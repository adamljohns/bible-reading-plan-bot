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A0A"/>
        </a:solidFill>
      </p:bgPr>
    </p:bg>
    <p:spTree>
      <p:nvGrpSpPr>
        <p:cNvPr id="1" name=""/>
        <p:cNvGrpSpPr/>
        <p:nvPr/>
      </p:nvGrpSpPr>
      <p:grpSpPr>
        <a:xfrm>
          <a:off x="0" y="0"/>
          <a:ext cx="0" cy="0"/>
          <a:chOff x="0" y="0"/>
          <a:chExt cx="0" cy="0"/>
        </a:xfrm>
      </p:grpSpPr>
      <p:pic>
        <p:nvPicPr>
          <p:cNvPr id="2" name="Image 0" descr="/home/claude/slides/logo.png">    </p:cNvPr>
          <p:cNvPicPr>
            <a:picLocks noChangeAspect="1"/>
          </p:cNvPicPr>
          <p:nvPr/>
        </p:nvPicPr>
        <p:blipFill>
          <a:blip r:embed="rId1"/>
          <a:stretch>
            <a:fillRect/>
          </a:stretch>
        </p:blipFill>
        <p:spPr>
          <a:xfrm>
            <a:off x="5394960" y="731520"/>
            <a:ext cx="1371600" cy="1691640"/>
          </a:xfrm>
          <a:prstGeom prst="rect">
            <a:avLst/>
          </a:prstGeom>
        </p:spPr>
      </p:pic>
      <p:sp>
        <p:nvSpPr>
          <p:cNvPr id="3" name="Text 0"/>
          <p:cNvSpPr/>
          <p:nvPr/>
        </p:nvSpPr>
        <p:spPr>
          <a:xfrm>
            <a:off x="457200" y="2743200"/>
            <a:ext cx="11247120" cy="777240"/>
          </a:xfrm>
          <a:prstGeom prst="rect">
            <a:avLst/>
          </a:prstGeom>
          <a:noFill/>
          <a:ln/>
        </p:spPr>
        <p:txBody>
          <a:bodyPr wrap="square" lIns="0" tIns="0" rIns="0" bIns="0" rtlCol="0" anchor="ctr"/>
          <a:lstStyle/>
          <a:p>
            <a:pPr algn="ctr" indent="0" marL="0">
              <a:buNone/>
            </a:pPr>
            <a:r>
              <a:rPr lang="en-US" sz="4400" b="1" spc="400" kern="0" dirty="0">
                <a:solidFill>
                  <a:srgbClr val="D4A437"/>
                </a:solidFill>
                <a:latin typeface="Georgia" pitchFamily="34" charset="0"/>
                <a:ea typeface="Georgia" pitchFamily="34" charset="-122"/>
                <a:cs typeface="Georgia" pitchFamily="34" charset="-120"/>
              </a:rPr>
              <a:t>THE DIFFUSION CURVE</a:t>
            </a:r>
            <a:endParaRPr lang="en-US" sz="4400" dirty="0"/>
          </a:p>
        </p:txBody>
      </p:sp>
      <p:sp>
        <p:nvSpPr>
          <p:cNvPr id="4" name="Text 1"/>
          <p:cNvSpPr/>
          <p:nvPr/>
        </p:nvSpPr>
        <p:spPr>
          <a:xfrm>
            <a:off x="457200" y="3520440"/>
            <a:ext cx="11247120" cy="777240"/>
          </a:xfrm>
          <a:prstGeom prst="rect">
            <a:avLst/>
          </a:prstGeom>
          <a:noFill/>
          <a:ln/>
        </p:spPr>
        <p:txBody>
          <a:bodyPr wrap="square" lIns="0" tIns="0" rIns="0" bIns="0" rtlCol="0" anchor="ctr"/>
          <a:lstStyle/>
          <a:p>
            <a:pPr algn="ctr" indent="0" marL="0">
              <a:buNone/>
            </a:pPr>
            <a:r>
              <a:rPr lang="en-US" sz="4400" b="1" spc="400" kern="0" dirty="0">
                <a:solidFill>
                  <a:srgbClr val="D4A437"/>
                </a:solidFill>
                <a:latin typeface="Georgia" pitchFamily="34" charset="0"/>
                <a:ea typeface="Georgia" pitchFamily="34" charset="-122"/>
                <a:cs typeface="Georgia" pitchFamily="34" charset="-120"/>
              </a:rPr>
              <a:t>&amp; DISCIPLESHIP STRATEGY</a:t>
            </a:r>
            <a:endParaRPr lang="en-US" sz="4400" dirty="0"/>
          </a:p>
        </p:txBody>
      </p:sp>
      <p:sp>
        <p:nvSpPr>
          <p:cNvPr id="5" name="Shape 2"/>
          <p:cNvSpPr/>
          <p:nvPr/>
        </p:nvSpPr>
        <p:spPr>
          <a:xfrm>
            <a:off x="4937760" y="4434840"/>
            <a:ext cx="2286000" cy="36576"/>
          </a:xfrm>
          <a:prstGeom prst="rect">
            <a:avLst/>
          </a:prstGeom>
          <a:solidFill>
            <a:srgbClr val="B8860B"/>
          </a:solidFill>
          <a:ln w="12700">
            <a:solidFill>
              <a:srgbClr val="B8860B"/>
            </a:solidFill>
            <a:prstDash val="solid"/>
          </a:ln>
        </p:spPr>
      </p:sp>
      <p:sp>
        <p:nvSpPr>
          <p:cNvPr id="6" name="Text 3"/>
          <p:cNvSpPr/>
          <p:nvPr/>
        </p:nvSpPr>
        <p:spPr>
          <a:xfrm>
            <a:off x="457200" y="4617720"/>
            <a:ext cx="11247120" cy="457200"/>
          </a:xfrm>
          <a:prstGeom prst="rect">
            <a:avLst/>
          </a:prstGeom>
          <a:noFill/>
          <a:ln/>
        </p:spPr>
        <p:txBody>
          <a:bodyPr wrap="square" lIns="0" tIns="0" rIns="0" bIns="0" rtlCol="0" anchor="ctr"/>
          <a:lstStyle/>
          <a:p>
            <a:pPr algn="ctr" indent="0" marL="0">
              <a:buNone/>
            </a:pPr>
            <a:r>
              <a:rPr lang="en-US" sz="2200" i="1" dirty="0">
                <a:solidFill>
                  <a:srgbClr val="EDE6CC"/>
                </a:solidFill>
                <a:latin typeface="Georgia" pitchFamily="34" charset="0"/>
                <a:ea typeface="Georgia" pitchFamily="34" charset="-122"/>
                <a:cs typeface="Georgia" pitchFamily="34" charset="-120"/>
              </a:rPr>
              <a:t>Sowing Selectively · Discipling Faithfully</a:t>
            </a:r>
            <a:endParaRPr lang="en-US" sz="2200" dirty="0"/>
          </a:p>
        </p:txBody>
      </p:sp>
      <p:sp>
        <p:nvSpPr>
          <p:cNvPr id="7" name="Text 4"/>
          <p:cNvSpPr/>
          <p:nvPr/>
        </p:nvSpPr>
        <p:spPr>
          <a:xfrm>
            <a:off x="457200" y="5212080"/>
            <a:ext cx="11247120" cy="365760"/>
          </a:xfrm>
          <a:prstGeom prst="rect">
            <a:avLst/>
          </a:prstGeom>
          <a:noFill/>
          <a:ln/>
        </p:spPr>
        <p:txBody>
          <a:bodyPr wrap="square" lIns="0" tIns="0" rIns="0" bIns="0" rtlCol="0" anchor="ctr"/>
          <a:lstStyle/>
          <a:p>
            <a:pPr algn="ctr" indent="0" marL="0">
              <a:buNone/>
            </a:pPr>
            <a:r>
              <a:rPr lang="en-US" sz="1300" spc="600" kern="0" dirty="0">
                <a:solidFill>
                  <a:srgbClr val="E8C97A"/>
                </a:solidFill>
                <a:latin typeface="Georgia" pitchFamily="34" charset="0"/>
                <a:ea typeface="Georgia" pitchFamily="34" charset="-122"/>
                <a:cs typeface="Georgia" pitchFamily="34" charset="-120"/>
              </a:rPr>
              <a:t>Uniting · Serving · Mentoring · Counseling</a:t>
            </a:r>
            <a:endParaRPr lang="en-US" sz="1300" dirty="0"/>
          </a:p>
        </p:txBody>
      </p:sp>
      <p:sp>
        <p:nvSpPr>
          <p:cNvPr id="8" name="Text 5"/>
          <p:cNvSpPr/>
          <p:nvPr/>
        </p:nvSpPr>
        <p:spPr>
          <a:xfrm>
            <a:off x="457200" y="6126480"/>
            <a:ext cx="11247120" cy="365760"/>
          </a:xfrm>
          <a:prstGeom prst="rect">
            <a:avLst/>
          </a:prstGeom>
          <a:noFill/>
          <a:ln/>
        </p:spPr>
        <p:txBody>
          <a:bodyPr wrap="square" lIns="0" tIns="0" rIns="0" bIns="0" rtlCol="0" anchor="ctr"/>
          <a:lstStyle/>
          <a:p>
            <a:pPr algn="ctr" indent="0" marL="0">
              <a:buNone/>
            </a:pPr>
            <a:r>
              <a:rPr lang="en-US" sz="1100" i="1" dirty="0">
                <a:solidFill>
                  <a:srgbClr val="9F9580"/>
                </a:solidFill>
                <a:latin typeface="Georgia" pitchFamily="34" charset="0"/>
                <a:ea typeface="Georgia" pitchFamily="34" charset="-122"/>
                <a:cs typeface="Georgia" pitchFamily="34" charset="-120"/>
              </a:rPr>
              <a:t>“As iron sharpens iron, so a man sharpens the countenance of his friend.” — Proverbs 27:17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457200" y="320040"/>
            <a:ext cx="8686800" cy="640080"/>
          </a:xfrm>
          <a:prstGeom prst="rect">
            <a:avLst/>
          </a:prstGeom>
          <a:noFill/>
          <a:ln/>
        </p:spPr>
        <p:txBody>
          <a:bodyPr wrap="square" lIns="0" tIns="0" rIns="0" bIns="0" rtlCol="0" anchor="ctr"/>
          <a:lstStyle/>
          <a:p>
            <a:pPr algn="l" indent="0" marL="0">
              <a:buNone/>
            </a:pPr>
            <a:r>
              <a:rPr lang="en-US" sz="2800" b="1" spc="400" kern="0" dirty="0">
                <a:solidFill>
                  <a:srgbClr val="D4A437"/>
                </a:solidFill>
                <a:latin typeface="Georgia" pitchFamily="34" charset="0"/>
                <a:ea typeface="Georgia" pitchFamily="34" charset="-122"/>
                <a:cs typeface="Georgia" pitchFamily="34" charset="-120"/>
              </a:rPr>
              <a:t>EXECUTIVE SUMMARY</a:t>
            </a:r>
            <a:endParaRPr lang="en-US" sz="2800" dirty="0"/>
          </a:p>
        </p:txBody>
      </p:sp>
      <p:sp>
        <p:nvSpPr>
          <p:cNvPr id="3" name="Text 1"/>
          <p:cNvSpPr/>
          <p:nvPr/>
        </p:nvSpPr>
        <p:spPr>
          <a:xfrm>
            <a:off x="9144000" y="320040"/>
            <a:ext cx="2560320" cy="365760"/>
          </a:xfrm>
          <a:prstGeom prst="rect">
            <a:avLst/>
          </a:prstGeom>
          <a:noFill/>
          <a:ln/>
        </p:spPr>
        <p:txBody>
          <a:bodyPr wrap="square" lIns="0" tIns="0" rIns="0" bIns="0" rtlCol="0" anchor="ctr"/>
          <a:lstStyle/>
          <a:p>
            <a:pPr algn="r" indent="0" marL="0">
              <a:buNone/>
            </a:pPr>
            <a:r>
              <a:rPr lang="en-US" sz="1100" spc="300" kern="0" dirty="0">
                <a:solidFill>
                  <a:srgbClr val="9F9580"/>
                </a:solidFill>
                <a:latin typeface="Georgia" pitchFamily="34" charset="0"/>
                <a:ea typeface="Georgia" pitchFamily="34" charset="-122"/>
                <a:cs typeface="Georgia" pitchFamily="34" charset="-120"/>
              </a:rPr>
              <a:t>U.S.M.C. MINISTRIES</a:t>
            </a:r>
            <a:endParaRPr lang="en-US" sz="1100" dirty="0"/>
          </a:p>
        </p:txBody>
      </p:sp>
      <p:sp>
        <p:nvSpPr>
          <p:cNvPr id="4" name="Shape 2"/>
          <p:cNvSpPr/>
          <p:nvPr/>
        </p:nvSpPr>
        <p:spPr>
          <a:xfrm>
            <a:off x="457200" y="1005840"/>
            <a:ext cx="11247120" cy="22860"/>
          </a:xfrm>
          <a:prstGeom prst="rect">
            <a:avLst/>
          </a:prstGeom>
          <a:solidFill>
            <a:srgbClr val="B8860B"/>
          </a:solidFill>
          <a:ln w="12700">
            <a:solidFill>
              <a:srgbClr val="B8860B"/>
            </a:solidFill>
            <a:prstDash val="solid"/>
          </a:ln>
        </p:spPr>
      </p:sp>
      <p:sp>
        <p:nvSpPr>
          <p:cNvPr id="5" name="Shape 3"/>
          <p:cNvSpPr/>
          <p:nvPr/>
        </p:nvSpPr>
        <p:spPr>
          <a:xfrm>
            <a:off x="457200" y="1371600"/>
            <a:ext cx="73152" cy="1463040"/>
          </a:xfrm>
          <a:prstGeom prst="rect">
            <a:avLst/>
          </a:prstGeom>
          <a:solidFill>
            <a:srgbClr val="D4A437"/>
          </a:solidFill>
          <a:ln w="12700">
            <a:solidFill>
              <a:srgbClr val="D4A437"/>
            </a:solidFill>
            <a:prstDash val="solid"/>
          </a:ln>
        </p:spPr>
      </p:sp>
      <p:sp>
        <p:nvSpPr>
          <p:cNvPr id="6" name="Text 4"/>
          <p:cNvSpPr/>
          <p:nvPr/>
        </p:nvSpPr>
        <p:spPr>
          <a:xfrm>
            <a:off x="777240" y="1371600"/>
            <a:ext cx="10927080" cy="1463040"/>
          </a:xfrm>
          <a:prstGeom prst="rect">
            <a:avLst/>
          </a:prstGeom>
          <a:noFill/>
          <a:ln/>
        </p:spPr>
        <p:txBody>
          <a:bodyPr wrap="square" lIns="0" tIns="0" rIns="0" bIns="0" rtlCol="0" anchor="ctr"/>
          <a:lstStyle/>
          <a:p>
            <a:pPr algn="l" indent="0" marL="0">
              <a:buNone/>
            </a:pPr>
            <a:r>
              <a:rPr lang="en-US" sz="3800" b="1" i="1" dirty="0">
                <a:solidFill>
                  <a:srgbClr val="E8C97A"/>
                </a:solidFill>
                <a:latin typeface="Georgia" pitchFamily="34" charset="0"/>
                <a:ea typeface="Georgia" pitchFamily="34" charset="-122"/>
                <a:cs typeface="Georgia" pitchFamily="34" charset="-120"/>
              </a:rPr>
              <a:t>Preach broadly. Disciple selectively.</a:t>
            </a:r>
            <a:endParaRPr lang="en-US" sz="3800" dirty="0"/>
          </a:p>
        </p:txBody>
      </p:sp>
      <p:sp>
        <p:nvSpPr>
          <p:cNvPr id="7" name="Text 5"/>
          <p:cNvSpPr/>
          <p:nvPr/>
        </p:nvSpPr>
        <p:spPr>
          <a:xfrm>
            <a:off x="777240" y="3108960"/>
            <a:ext cx="10927080" cy="3017520"/>
          </a:xfrm>
          <a:prstGeom prst="rect">
            <a:avLst/>
          </a:prstGeom>
          <a:noFill/>
          <a:ln/>
        </p:spPr>
        <p:txBody>
          <a:bodyPr wrap="square" lIns="0" tIns="0" rIns="0" bIns="0" rtlCol="0" anchor="t"/>
          <a:lstStyle/>
          <a:p>
            <a:pPr algn="l" indent="0" marL="0">
              <a:lnSpc>
                <a:spcPts val="2600"/>
              </a:lnSpc>
              <a:spcAft>
                <a:spcPts val="800"/>
              </a:spcAft>
              <a:buNone/>
            </a:pPr>
            <a:r>
              <a:rPr lang="en-US" sz="1800" dirty="0">
                <a:solidFill>
                  <a:srgbClr val="EDE6CC"/>
                </a:solidFill>
                <a:latin typeface="Calibri" pitchFamily="34" charset="0"/>
                <a:ea typeface="Calibri" pitchFamily="34" charset="-122"/>
                <a:cs typeface="Calibri" pitchFamily="34" charset="-120"/>
              </a:rPr>
              <a:t>Rogers’ </a:t>
            </a:r>
            <a:pPr algn="l" indent="0" marL="0">
              <a:lnSpc>
                <a:spcPts val="2600"/>
              </a:lnSpc>
              <a:spcAft>
                <a:spcPts val="800"/>
              </a:spcAft>
              <a:buNone/>
            </a:pPr>
            <a:r>
              <a:rPr lang="en-US" sz="1800" i="1" dirty="0">
                <a:solidFill>
                  <a:srgbClr val="EDE6CC"/>
                </a:solidFill>
                <a:latin typeface="Calibri" pitchFamily="34" charset="0"/>
                <a:ea typeface="Calibri" pitchFamily="34" charset="-122"/>
                <a:cs typeface="Calibri" pitchFamily="34" charset="-120"/>
              </a:rPr>
              <a:t>Diffusion of Innovations</a:t>
            </a:r>
            <a:pPr algn="l" indent="0" marL="0">
              <a:lnSpc>
                <a:spcPts val="2600"/>
              </a:lnSpc>
              <a:spcAft>
                <a:spcPts val="800"/>
              </a:spcAft>
              <a:buNone/>
            </a:pPr>
            <a:r>
              <a:rPr lang="en-US" sz="1800" dirty="0">
                <a:solidFill>
                  <a:srgbClr val="EDE6CC"/>
                </a:solidFill>
                <a:latin typeface="Calibri" pitchFamily="34" charset="0"/>
                <a:ea typeface="Calibri" pitchFamily="34" charset="-122"/>
                <a:cs typeface="Calibri" pitchFamily="34" charset="-120"/>
              </a:rPr>
              <a:t> curve segments any population into five tiers: Innovators (2.5%), Early Adopters (13.5%), Early Majority (34%), Late Majority (34%), and Laggards (16%). Most efforts die in the gap Geoffrey Moore named </a:t>
            </a:r>
            <a:pPr algn="l" indent="0" marL="0">
              <a:lnSpc>
                <a:spcPts val="2600"/>
              </a:lnSpc>
              <a:spcAft>
                <a:spcPts val="800"/>
              </a:spcAft>
              <a:buNone/>
            </a:pPr>
            <a:r>
              <a:rPr lang="en-US" sz="1800" i="1" dirty="0">
                <a:solidFill>
                  <a:srgbClr val="EDE6CC"/>
                </a:solidFill>
                <a:latin typeface="Calibri" pitchFamily="34" charset="0"/>
                <a:ea typeface="Calibri" pitchFamily="34" charset="-122"/>
                <a:cs typeface="Calibri" pitchFamily="34" charset="-120"/>
              </a:rPr>
              <a:t>the chasm</a:t>
            </a:r>
            <a:pPr algn="l" indent="0" marL="0">
              <a:lnSpc>
                <a:spcPts val="2600"/>
              </a:lnSpc>
              <a:spcAft>
                <a:spcPts val="800"/>
              </a:spcAft>
              <a:buNone/>
            </a:pPr>
            <a:r>
              <a:rPr lang="en-US" sz="1800" dirty="0">
                <a:solidFill>
                  <a:srgbClr val="EDE6CC"/>
                </a:solidFill>
                <a:latin typeface="Calibri" pitchFamily="34" charset="0"/>
                <a:ea typeface="Calibri" pitchFamily="34" charset="-122"/>
                <a:cs typeface="Calibri" pitchFamily="34" charset="-120"/>
              </a:rPr>
              <a:t>—between visionary early adopters and pragmatic early majority.</a:t>
            </a:r>
            <a:endParaRPr lang="en-US" sz="1800" dirty="0"/>
          </a:p>
          <a:p>
            <a:pPr algn="l" indent="0" marL="0">
              <a:lnSpc>
                <a:spcPts val="2600"/>
              </a:lnSpc>
              <a:spcAft>
                <a:spcPts val="800"/>
              </a:spcAft>
              <a:buNone/>
            </a:pPr>
            <a:r>
              <a:rPr lang="en-US" sz="1800" dirty="0">
                <a:solidFill>
                  <a:srgbClr val="EDE6CC"/>
                </a:solidFill>
                <a:latin typeface="Calibri" pitchFamily="34" charset="0"/>
                <a:ea typeface="Calibri" pitchFamily="34" charset="-122"/>
                <a:cs typeface="Calibri" pitchFamily="34" charset="-120"/>
              </a:rPr>
              <a:t> </a:t>
            </a:r>
            <a:endParaRPr lang="en-US" sz="1800" dirty="0"/>
          </a:p>
          <a:p>
            <a:pPr algn="l" indent="0" marL="0">
              <a:lnSpc>
                <a:spcPts val="2600"/>
              </a:lnSpc>
              <a:spcAft>
                <a:spcPts val="800"/>
              </a:spcAft>
              <a:buNone/>
            </a:pPr>
            <a:r>
              <a:rPr lang="en-US" sz="1800" dirty="0">
                <a:solidFill>
                  <a:srgbClr val="EDE6CC"/>
                </a:solidFill>
                <a:latin typeface="Calibri" pitchFamily="34" charset="0"/>
                <a:ea typeface="Calibri" pitchFamily="34" charset="-122"/>
                <a:cs typeface="Calibri" pitchFamily="34" charset="-120"/>
              </a:rPr>
              <a:t>Applied to men’s discipleship, the model exposes a costly error: trying to market a hard-edged program to </a:t>
            </a:r>
            <a:pPr algn="l" indent="0" marL="0">
              <a:lnSpc>
                <a:spcPts val="2600"/>
              </a:lnSpc>
              <a:spcAft>
                <a:spcPts val="800"/>
              </a:spcAft>
              <a:buNone/>
            </a:pPr>
            <a:r>
              <a:rPr lang="en-US" sz="1800" i="1" dirty="0">
                <a:solidFill>
                  <a:srgbClr val="EDE6CC"/>
                </a:solidFill>
                <a:latin typeface="Calibri" pitchFamily="34" charset="0"/>
                <a:ea typeface="Calibri" pitchFamily="34" charset="-122"/>
                <a:cs typeface="Calibri" pitchFamily="34" charset="-120"/>
              </a:rPr>
              <a:t>everyone</a:t>
            </a:r>
            <a:pPr algn="l" indent="0" marL="0">
              <a:lnSpc>
                <a:spcPts val="2600"/>
              </a:lnSpc>
              <a:spcAft>
                <a:spcPts val="800"/>
              </a:spcAft>
              <a:buNone/>
            </a:pPr>
            <a:r>
              <a:rPr lang="en-US" sz="1800" dirty="0">
                <a:solidFill>
                  <a:srgbClr val="EDE6CC"/>
                </a:solidFill>
                <a:latin typeface="Calibri" pitchFamily="34" charset="0"/>
                <a:ea typeface="Calibri" pitchFamily="34" charset="-122"/>
                <a:cs typeface="Calibri" pitchFamily="34" charset="-120"/>
              </a:rPr>
              <a:t> forces dilution that loses the ready and never reaches the resistant. Scripture already endorses selective investment: Jesus preached to thousands but discipled twelve.</a:t>
            </a:r>
            <a:endParaRPr lang="en-US" sz="1800" dirty="0"/>
          </a:p>
        </p:txBody>
      </p:sp>
      <p:sp>
        <p:nvSpPr>
          <p:cNvPr id="8" name="Shape 6"/>
          <p:cNvSpPr/>
          <p:nvPr/>
        </p:nvSpPr>
        <p:spPr>
          <a:xfrm>
            <a:off x="457200" y="6446520"/>
            <a:ext cx="11247120" cy="16459"/>
          </a:xfrm>
          <a:prstGeom prst="rect">
            <a:avLst/>
          </a:prstGeom>
          <a:solidFill>
            <a:srgbClr val="B8860B"/>
          </a:solidFill>
          <a:ln w="12700">
            <a:solidFill>
              <a:srgbClr val="B8860B"/>
            </a:solidFill>
            <a:prstDash val="solid"/>
          </a:ln>
        </p:spPr>
      </p:sp>
      <p:sp>
        <p:nvSpPr>
          <p:cNvPr id="9" name="Text 7"/>
          <p:cNvSpPr/>
          <p:nvPr/>
        </p:nvSpPr>
        <p:spPr>
          <a:xfrm>
            <a:off x="457200" y="6510528"/>
            <a:ext cx="8229600" cy="274320"/>
          </a:xfrm>
          <a:prstGeom prst="rect">
            <a:avLst/>
          </a:prstGeom>
          <a:noFill/>
          <a:ln/>
        </p:spPr>
        <p:txBody>
          <a:bodyPr wrap="square" lIns="0" tIns="0" rIns="0" bIns="0" rtlCol="0" anchor="t"/>
          <a:lstStyle/>
          <a:p>
            <a:pPr algn="l" indent="0" marL="0">
              <a:buNone/>
            </a:pPr>
            <a:r>
              <a:rPr lang="en-US" sz="1000" dirty="0">
                <a:solidFill>
                  <a:srgbClr val="E8C97A"/>
                </a:solidFill>
                <a:latin typeface="Georgia" pitchFamily="34" charset="0"/>
                <a:ea typeface="Georgia" pitchFamily="34" charset="-122"/>
                <a:cs typeface="Georgia" pitchFamily="34" charset="-120"/>
              </a:rPr>
              <a:t>usmcmin.org</a:t>
            </a:r>
            <a:pPr algn="l" indent="0" marL="0">
              <a:buNone/>
            </a:pPr>
            <a:r>
              <a:rPr lang="en-US" sz="1000" dirty="0">
                <a:solidFill>
                  <a:srgbClr val="9F9580"/>
                </a:solidFill>
                <a:latin typeface="Georgia" pitchFamily="34" charset="0"/>
                <a:ea typeface="Georgia" pitchFamily="34" charset="-122"/>
                <a:cs typeface="Georgia" pitchFamily="34" charset="-120"/>
              </a:rPr>
              <a:t>  ·  </a:t>
            </a:r>
            <a:pPr algn="l" indent="0" marL="0">
              <a:buNone/>
            </a:pPr>
            <a:r>
              <a:rPr lang="en-US" sz="1000" i="1" dirty="0">
                <a:solidFill>
                  <a:srgbClr val="9F9580"/>
                </a:solidFill>
                <a:latin typeface="Georgia" pitchFamily="34" charset="0"/>
                <a:ea typeface="Georgia" pitchFamily="34" charset="-122"/>
                <a:cs typeface="Georgia" pitchFamily="34" charset="-120"/>
              </a:rPr>
              <a:t>“Iron sharpens iron.” — Prov. 27:17</a:t>
            </a:r>
            <a:endParaRPr lang="en-US" sz="1000" dirty="0"/>
          </a:p>
        </p:txBody>
      </p:sp>
      <p:sp>
        <p:nvSpPr>
          <p:cNvPr id="10" name="Text 8"/>
          <p:cNvSpPr/>
          <p:nvPr/>
        </p:nvSpPr>
        <p:spPr>
          <a:xfrm>
            <a:off x="10789920" y="6510528"/>
            <a:ext cx="914400" cy="274320"/>
          </a:xfrm>
          <a:prstGeom prst="rect">
            <a:avLst/>
          </a:prstGeom>
          <a:noFill/>
          <a:ln/>
        </p:spPr>
        <p:txBody>
          <a:bodyPr wrap="square" lIns="0" tIns="0" rIns="0" bIns="0" rtlCol="0" anchor="t"/>
          <a:lstStyle/>
          <a:p>
            <a:pPr algn="r" indent="0" marL="0">
              <a:buNone/>
            </a:pPr>
            <a:r>
              <a:rPr lang="en-US" sz="1000" dirty="0">
                <a:solidFill>
                  <a:srgbClr val="9F9580"/>
                </a:solidFill>
                <a:latin typeface="Georgia" pitchFamily="34" charset="0"/>
                <a:ea typeface="Georgia" pitchFamily="34" charset="-122"/>
                <a:cs typeface="Georgia" pitchFamily="34" charset="-120"/>
              </a:rPr>
              <a:t>2 / 10</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457200" y="320040"/>
            <a:ext cx="8686800" cy="640080"/>
          </a:xfrm>
          <a:prstGeom prst="rect">
            <a:avLst/>
          </a:prstGeom>
          <a:noFill/>
          <a:ln/>
        </p:spPr>
        <p:txBody>
          <a:bodyPr wrap="square" lIns="0" tIns="0" rIns="0" bIns="0" rtlCol="0" anchor="ctr"/>
          <a:lstStyle/>
          <a:p>
            <a:pPr algn="l" indent="0" marL="0">
              <a:buNone/>
            </a:pPr>
            <a:r>
              <a:rPr lang="en-US" sz="2800" b="1" spc="400" kern="0" dirty="0">
                <a:solidFill>
                  <a:srgbClr val="D4A437"/>
                </a:solidFill>
                <a:latin typeface="Georgia" pitchFamily="34" charset="0"/>
                <a:ea typeface="Georgia" pitchFamily="34" charset="-122"/>
                <a:cs typeface="Georgia" pitchFamily="34" charset="-120"/>
              </a:rPr>
              <a:t>THE FRAMEWORK</a:t>
            </a:r>
            <a:endParaRPr lang="en-US" sz="2800" dirty="0"/>
          </a:p>
        </p:txBody>
      </p:sp>
      <p:sp>
        <p:nvSpPr>
          <p:cNvPr id="3" name="Text 1"/>
          <p:cNvSpPr/>
          <p:nvPr/>
        </p:nvSpPr>
        <p:spPr>
          <a:xfrm>
            <a:off x="9144000" y="320040"/>
            <a:ext cx="2560320" cy="365760"/>
          </a:xfrm>
          <a:prstGeom prst="rect">
            <a:avLst/>
          </a:prstGeom>
          <a:noFill/>
          <a:ln/>
        </p:spPr>
        <p:txBody>
          <a:bodyPr wrap="square" lIns="0" tIns="0" rIns="0" bIns="0" rtlCol="0" anchor="ctr"/>
          <a:lstStyle/>
          <a:p>
            <a:pPr algn="r" indent="0" marL="0">
              <a:buNone/>
            </a:pPr>
            <a:r>
              <a:rPr lang="en-US" sz="1100" spc="300" kern="0" dirty="0">
                <a:solidFill>
                  <a:srgbClr val="9F9580"/>
                </a:solidFill>
                <a:latin typeface="Georgia" pitchFamily="34" charset="0"/>
                <a:ea typeface="Georgia" pitchFamily="34" charset="-122"/>
                <a:cs typeface="Georgia" pitchFamily="34" charset="-120"/>
              </a:rPr>
              <a:t>U.S.M.C. MINISTRIES</a:t>
            </a:r>
            <a:endParaRPr lang="en-US" sz="1100" dirty="0"/>
          </a:p>
        </p:txBody>
      </p:sp>
      <p:sp>
        <p:nvSpPr>
          <p:cNvPr id="4" name="Shape 2"/>
          <p:cNvSpPr/>
          <p:nvPr/>
        </p:nvSpPr>
        <p:spPr>
          <a:xfrm>
            <a:off x="457200" y="1005840"/>
            <a:ext cx="11247120" cy="22860"/>
          </a:xfrm>
          <a:prstGeom prst="rect">
            <a:avLst/>
          </a:prstGeom>
          <a:solidFill>
            <a:srgbClr val="B8860B"/>
          </a:solidFill>
          <a:ln w="12700">
            <a:solidFill>
              <a:srgbClr val="B8860B"/>
            </a:solidFill>
            <a:prstDash val="solid"/>
          </a:ln>
        </p:spPr>
      </p:sp>
      <p:sp>
        <p:nvSpPr>
          <p:cNvPr id="5" name="Text 3"/>
          <p:cNvSpPr/>
          <p:nvPr/>
        </p:nvSpPr>
        <p:spPr>
          <a:xfrm>
            <a:off x="457200" y="1188720"/>
            <a:ext cx="11247120" cy="365760"/>
          </a:xfrm>
          <a:prstGeom prst="rect">
            <a:avLst/>
          </a:prstGeom>
          <a:noFill/>
          <a:ln/>
        </p:spPr>
        <p:txBody>
          <a:bodyPr wrap="square" lIns="0" tIns="0" rIns="0" bIns="0" rtlCol="0" anchor="ctr"/>
          <a:lstStyle/>
          <a:p>
            <a:pPr algn="l" indent="0" marL="0">
              <a:buNone/>
            </a:pPr>
            <a:r>
              <a:rPr lang="en-US" sz="1600" i="1" dirty="0">
                <a:solidFill>
                  <a:srgbClr val="E8C97A"/>
                </a:solidFill>
                <a:latin typeface="Georgia" pitchFamily="34" charset="0"/>
                <a:ea typeface="Georgia" pitchFamily="34" charset="-122"/>
                <a:cs typeface="Georgia" pitchFamily="34" charset="-120"/>
              </a:rPr>
              <a:t>Rogers’ Diffusion Curve · Five Adoption Segments</a:t>
            </a:r>
            <a:endParaRPr lang="en-US" sz="1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691640"/>
          <a:ext cx="11247120" cy="914400"/>
        </p:xfrm>
        <a:graphic>
          <a:graphicData uri="http://schemas.openxmlformats.org/drawingml/2006/table">
            <a:tbl>
              <a:tblPr/>
              <a:tblGrid>
                <a:gridCol w="2011680"/>
                <a:gridCol w="914400"/>
                <a:gridCol w="4114800"/>
                <a:gridCol w="4206240"/>
              </a:tblGrid>
              <a:tr h="685800">
                <a:tc>
                  <a:txBody>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Segment</a:t>
                      </a:r>
                      <a:endParaRPr lang="en-US" sz="1400" dirty="0">
                        <a:latin typeface="Georgia" charset="0"/>
                        <a:ea typeface="Georgia" charset="0"/>
                        <a:cs typeface="Georgia"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B8860B"/>
                    </a:solidFill>
                  </a:tcPr>
                </a:tc>
                <a:tc>
                  <a:txBody>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a:t>
                      </a:r>
                      <a:endParaRPr lang="en-US" sz="1400" dirty="0">
                        <a:latin typeface="Georgia" charset="0"/>
                        <a:ea typeface="Georgia" charset="0"/>
                        <a:cs typeface="Georgia"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B8860B"/>
                    </a:solidFill>
                  </a:tcPr>
                </a:tc>
                <a:tc>
                  <a:txBody>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Mainstream Posture</a:t>
                      </a:r>
                      <a:endParaRPr lang="en-US" sz="1400" dirty="0">
                        <a:latin typeface="Georgia" charset="0"/>
                        <a:ea typeface="Georgia" charset="0"/>
                        <a:cs typeface="Georgia"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B8860B"/>
                    </a:solidFill>
                  </a:tcPr>
                </a:tc>
                <a:tc>
                  <a:txBody>
                    <a:bodyPr/>
                    <a:lstStyle/>
                    <a:p>
                      <a:pPr algn="ctr" indent="0" marL="0">
                        <a:buNone/>
                      </a:pPr>
                      <a:r>
                        <a:rPr lang="en-US" sz="1400" b="1" dirty="0">
                          <a:solidFill>
                            <a:srgbClr val="FFFFFF"/>
                          </a:solidFill>
                          <a:latin typeface="Georgia" pitchFamily="34" charset="0"/>
                          <a:ea typeface="Georgia" pitchFamily="34" charset="-122"/>
                          <a:cs typeface="Georgia" pitchFamily="34" charset="-120"/>
                        </a:rPr>
                        <a:t>Ministry Analog</a:t>
                      </a:r>
                      <a:endParaRPr lang="en-US" sz="1400" dirty="0">
                        <a:latin typeface="Georgia" charset="0"/>
                        <a:ea typeface="Georgia" charset="0"/>
                        <a:cs typeface="Georgia"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B8860B"/>
                    </a:solidFill>
                  </a:tcPr>
                </a:tc>
              </a:tr>
              <a:tr h="685800">
                <a:tc>
                  <a:txBody>
                    <a:bodyPr/>
                    <a:lstStyle/>
                    <a:p>
                      <a:pPr algn="l" indent="0" marL="0">
                        <a:buNone/>
                      </a:pPr>
                      <a:r>
                        <a:rPr lang="en-US" sz="1300" b="1" dirty="0">
                          <a:solidFill>
                            <a:srgbClr val="E8C97A"/>
                          </a:solidFill>
                          <a:latin typeface="Calibri" pitchFamily="34" charset="0"/>
                          <a:ea typeface="Calibri" pitchFamily="34" charset="-122"/>
                          <a:cs typeface="Calibri" pitchFamily="34" charset="-120"/>
                        </a:rPr>
                        <a:t>Innovators</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c>
                  <a:txBody>
                    <a:bodyPr/>
                    <a:lstStyle/>
                    <a:p>
                      <a:pPr algn="ctr" indent="0" marL="0">
                        <a:buNone/>
                      </a:pPr>
                      <a:r>
                        <a:rPr lang="en-US" sz="1300" b="1" dirty="0">
                          <a:solidFill>
                            <a:srgbClr val="E8C97A"/>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c>
                  <a:txBody>
                    <a:bodyPr/>
                    <a:lstStyle/>
                    <a:p>
                      <a:pPr indent="0" marL="0">
                        <a:buNone/>
                      </a:pPr>
                      <a:r>
                        <a:rPr lang="en-US" sz="1300" dirty="0">
                          <a:solidFill>
                            <a:srgbClr val="EDE6CC"/>
                          </a:solidFill>
                          <a:latin typeface="Calibri" pitchFamily="34" charset="0"/>
                          <a:ea typeface="Calibri" pitchFamily="34" charset="-122"/>
                          <a:cs typeface="Calibri" pitchFamily="34" charset="-120"/>
                        </a:rPr>
                        <a:t>Build it. Tolerate breakage.</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c>
                  <a:txBody>
                    <a:bodyPr/>
                    <a:lstStyle/>
                    <a:p>
                      <a:pPr indent="0" marL="0">
                        <a:buNone/>
                      </a:pPr>
                      <a:r>
                        <a:rPr lang="en-US" sz="1300" dirty="0">
                          <a:solidFill>
                            <a:srgbClr val="EDE6CC"/>
                          </a:solidFill>
                          <a:latin typeface="Calibri" pitchFamily="34" charset="0"/>
                          <a:ea typeface="Calibri" pitchFamily="34" charset="-122"/>
                          <a:cs typeface="Calibri" pitchFamily="34" charset="-120"/>
                        </a:rPr>
                        <a:t>Men already broken &amp; seeking. Join unproven groups.</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r>
              <a:tr h="685800">
                <a:tc>
                  <a:txBody>
                    <a:bodyPr/>
                    <a:lstStyle/>
                    <a:p>
                      <a:pPr algn="l" indent="0" marL="0">
                        <a:buNone/>
                      </a:pPr>
                      <a:r>
                        <a:rPr lang="en-US" sz="1300" b="1" dirty="0">
                          <a:solidFill>
                            <a:srgbClr val="E8C97A"/>
                          </a:solidFill>
                          <a:latin typeface="Calibri" pitchFamily="34" charset="0"/>
                          <a:ea typeface="Calibri" pitchFamily="34" charset="-122"/>
                          <a:cs typeface="Calibri" pitchFamily="34" charset="-120"/>
                        </a:rPr>
                        <a:t>Early Adopters</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c>
                  <a:txBody>
                    <a:bodyPr/>
                    <a:lstStyle/>
                    <a:p>
                      <a:pPr algn="ctr" indent="0" marL="0">
                        <a:buNone/>
                      </a:pPr>
                      <a:r>
                        <a:rPr lang="en-US" sz="1300" b="1" dirty="0">
                          <a:solidFill>
                            <a:srgbClr val="E8C97A"/>
                          </a:solidFill>
                          <a:latin typeface="Calibri" pitchFamily="34" charset="0"/>
                          <a:ea typeface="Calibri" pitchFamily="34" charset="-122"/>
                          <a:cs typeface="Calibri" pitchFamily="34" charset="-120"/>
                        </a:rPr>
                        <a:t>13.5%</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c>
                  <a:txBody>
                    <a:bodyPr/>
                    <a:lstStyle/>
                    <a:p>
                      <a:pPr indent="0" marL="0">
                        <a:buNone/>
                      </a:pPr>
                      <a:r>
                        <a:rPr lang="en-US" sz="1300" dirty="0">
                          <a:solidFill>
                            <a:srgbClr val="EDE6CC"/>
                          </a:solidFill>
                          <a:latin typeface="Calibri" pitchFamily="34" charset="0"/>
                          <a:ea typeface="Calibri" pitchFamily="34" charset="-122"/>
                          <a:cs typeface="Calibri" pitchFamily="34" charset="-120"/>
                        </a:rPr>
                        <a:t>Visionaries. Adopt for strategic advantage.</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c>
                  <a:txBody>
                    <a:bodyPr/>
                    <a:lstStyle/>
                    <a:p>
                      <a:pPr indent="0" marL="0">
                        <a:buNone/>
                      </a:pPr>
                      <a:r>
                        <a:rPr lang="en-US" sz="1300" dirty="0">
                          <a:solidFill>
                            <a:srgbClr val="EDE6CC"/>
                          </a:solidFill>
                          <a:latin typeface="Calibri" pitchFamily="34" charset="0"/>
                          <a:ea typeface="Calibri" pitchFamily="34" charset="-122"/>
                          <a:cs typeface="Calibri" pitchFamily="34" charset="-120"/>
                        </a:rPr>
                        <a:t>Future small-group leaders. Multipliers.</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r>
              <a:tr h="685800">
                <a:tc>
                  <a:txBody>
                    <a:bodyPr/>
                    <a:lstStyle/>
                    <a:p>
                      <a:pPr algn="l" indent="0" marL="0">
                        <a:buNone/>
                      </a:pPr>
                      <a:r>
                        <a:rPr lang="en-US" sz="1300" b="1" dirty="0">
                          <a:solidFill>
                            <a:srgbClr val="E8C97A"/>
                          </a:solidFill>
                          <a:latin typeface="Calibri" pitchFamily="34" charset="0"/>
                          <a:ea typeface="Calibri" pitchFamily="34" charset="-122"/>
                          <a:cs typeface="Calibri" pitchFamily="34" charset="-120"/>
                        </a:rPr>
                        <a:t>Early Majority</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c>
                  <a:txBody>
                    <a:bodyPr/>
                    <a:lstStyle/>
                    <a:p>
                      <a:pPr algn="ctr" indent="0" marL="0">
                        <a:buNone/>
                      </a:pPr>
                      <a:r>
                        <a:rPr lang="en-US" sz="1300" b="1" dirty="0">
                          <a:solidFill>
                            <a:srgbClr val="E8C97A"/>
                          </a:solidFill>
                          <a:latin typeface="Calibri" pitchFamily="34" charset="0"/>
                          <a:ea typeface="Calibri" pitchFamily="34" charset="-122"/>
                          <a:cs typeface="Calibri" pitchFamily="34" charset="-120"/>
                        </a:rPr>
                        <a:t>34%</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c>
                  <a:txBody>
                    <a:bodyPr/>
                    <a:lstStyle/>
                    <a:p>
                      <a:pPr indent="0" marL="0">
                        <a:buNone/>
                      </a:pPr>
                      <a:r>
                        <a:rPr lang="en-US" sz="1300" dirty="0">
                          <a:solidFill>
                            <a:srgbClr val="EDE6CC"/>
                          </a:solidFill>
                          <a:latin typeface="Calibri" pitchFamily="34" charset="0"/>
                          <a:ea typeface="Calibri" pitchFamily="34" charset="-122"/>
                          <a:cs typeface="Calibri" pitchFamily="34" charset="-120"/>
                        </a:rPr>
                        <a:t>Pragmatists. Need references &amp; proof.</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c>
                  <a:txBody>
                    <a:bodyPr/>
                    <a:lstStyle/>
                    <a:p>
                      <a:pPr indent="0" marL="0">
                        <a:buNone/>
                      </a:pPr>
                      <a:r>
                        <a:rPr lang="en-US" sz="1300" dirty="0">
                          <a:solidFill>
                            <a:srgbClr val="EDE6CC"/>
                          </a:solidFill>
                          <a:latin typeface="Calibri" pitchFamily="34" charset="0"/>
                          <a:ea typeface="Calibri" pitchFamily="34" charset="-122"/>
                          <a:cs typeface="Calibri" pitchFamily="34" charset="-120"/>
                        </a:rPr>
                        <a:t>Steady men who join after pastor endorses.</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r>
              <a:tr h="685800">
                <a:tc>
                  <a:txBody>
                    <a:bodyPr/>
                    <a:lstStyle/>
                    <a:p>
                      <a:pPr algn="l" indent="0" marL="0">
                        <a:buNone/>
                      </a:pPr>
                      <a:r>
                        <a:rPr lang="en-US" sz="1300" b="1" dirty="0">
                          <a:solidFill>
                            <a:srgbClr val="E8C97A"/>
                          </a:solidFill>
                          <a:latin typeface="Calibri" pitchFamily="34" charset="0"/>
                          <a:ea typeface="Calibri" pitchFamily="34" charset="-122"/>
                          <a:cs typeface="Calibri" pitchFamily="34" charset="-120"/>
                        </a:rPr>
                        <a:t>Late Majority</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c>
                  <a:txBody>
                    <a:bodyPr/>
                    <a:lstStyle/>
                    <a:p>
                      <a:pPr algn="ctr" indent="0" marL="0">
                        <a:buNone/>
                      </a:pPr>
                      <a:r>
                        <a:rPr lang="en-US" sz="1300" b="1" dirty="0">
                          <a:solidFill>
                            <a:srgbClr val="E8C97A"/>
                          </a:solidFill>
                          <a:latin typeface="Calibri" pitchFamily="34" charset="0"/>
                          <a:ea typeface="Calibri" pitchFamily="34" charset="-122"/>
                          <a:cs typeface="Calibri" pitchFamily="34" charset="-120"/>
                        </a:rPr>
                        <a:t>34%</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c>
                  <a:txBody>
                    <a:bodyPr/>
                    <a:lstStyle/>
                    <a:p>
                      <a:pPr indent="0" marL="0">
                        <a:buNone/>
                      </a:pPr>
                      <a:r>
                        <a:rPr lang="en-US" sz="1300" dirty="0">
                          <a:solidFill>
                            <a:srgbClr val="EDE6CC"/>
                          </a:solidFill>
                          <a:latin typeface="Calibri" pitchFamily="34" charset="0"/>
                          <a:ea typeface="Calibri" pitchFamily="34" charset="-122"/>
                          <a:cs typeface="Calibri" pitchFamily="34" charset="-120"/>
                        </a:rPr>
                        <a:t>Conservatives. Adopt when not adopting hurts.</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c>
                  <a:txBody>
                    <a:bodyPr/>
                    <a:lstStyle/>
                    <a:p>
                      <a:pPr indent="0" marL="0">
                        <a:buNone/>
                      </a:pPr>
                      <a:r>
                        <a:rPr lang="en-US" sz="1300" dirty="0">
                          <a:solidFill>
                            <a:srgbClr val="EDE6CC"/>
                          </a:solidFill>
                          <a:latin typeface="Calibri" pitchFamily="34" charset="0"/>
                          <a:ea typeface="Calibri" pitchFamily="34" charset="-122"/>
                          <a:cs typeface="Calibri" pitchFamily="34" charset="-120"/>
                        </a:rPr>
                        <a:t>Reactive to crisis: divorce, job loss, exposure.</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r>
              <a:tr h="685800">
                <a:tc>
                  <a:txBody>
                    <a:bodyPr/>
                    <a:lstStyle/>
                    <a:p>
                      <a:pPr algn="l" indent="0" marL="0">
                        <a:buNone/>
                      </a:pPr>
                      <a:r>
                        <a:rPr lang="en-US" sz="1300" b="1" dirty="0">
                          <a:solidFill>
                            <a:srgbClr val="E8C97A"/>
                          </a:solidFill>
                          <a:latin typeface="Calibri" pitchFamily="34" charset="0"/>
                          <a:ea typeface="Calibri" pitchFamily="34" charset="-122"/>
                          <a:cs typeface="Calibri" pitchFamily="34" charset="-120"/>
                        </a:rPr>
                        <a:t>Laggards</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c>
                  <a:txBody>
                    <a:bodyPr/>
                    <a:lstStyle/>
                    <a:p>
                      <a:pPr algn="ctr" indent="0" marL="0">
                        <a:buNone/>
                      </a:pPr>
                      <a:r>
                        <a:rPr lang="en-US" sz="1300" b="1" dirty="0">
                          <a:solidFill>
                            <a:srgbClr val="E8C97A"/>
                          </a:solidFill>
                          <a:latin typeface="Calibri" pitchFamily="34" charset="0"/>
                          <a:ea typeface="Calibri" pitchFamily="34" charset="-122"/>
                          <a:cs typeface="Calibri" pitchFamily="34" charset="-120"/>
                        </a:rPr>
                        <a:t>16%</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c>
                  <a:txBody>
                    <a:bodyPr/>
                    <a:lstStyle/>
                    <a:p>
                      <a:pPr indent="0" marL="0">
                        <a:buNone/>
                      </a:pPr>
                      <a:r>
                        <a:rPr lang="en-US" sz="1300" dirty="0">
                          <a:solidFill>
                            <a:srgbClr val="EDE6CC"/>
                          </a:solidFill>
                          <a:latin typeface="Calibri" pitchFamily="34" charset="0"/>
                          <a:ea typeface="Calibri" pitchFamily="34" charset="-122"/>
                          <a:cs typeface="Calibri" pitchFamily="34" charset="-120"/>
                        </a:rPr>
                        <a:t>Skeptics. Adopt under coercion only.</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c>
                  <a:txBody>
                    <a:bodyPr/>
                    <a:lstStyle/>
                    <a:p>
                      <a:pPr indent="0" marL="0">
                        <a:buNone/>
                      </a:pPr>
                      <a:r>
                        <a:rPr lang="en-US" sz="1300" dirty="0">
                          <a:solidFill>
                            <a:srgbClr val="EDE6CC"/>
                          </a:solidFill>
                          <a:latin typeface="Calibri" pitchFamily="34" charset="0"/>
                          <a:ea typeface="Calibri" pitchFamily="34" charset="-122"/>
                          <a:cs typeface="Calibri" pitchFamily="34" charset="-120"/>
                        </a:rPr>
                        <a:t>Hostile or in deep denial.</a:t>
                      </a:r>
                      <a:endParaRPr lang="en-US" sz="1300" dirty="0">
                        <a:latin typeface="Calibri" charset="0"/>
                        <a:ea typeface="Calibri" charset="0"/>
                        <a:cs typeface="Calibri" charset="0"/>
                      </a:endParaRPr>
                    </a:p>
                  </a:txBody>
                  <a:tcPr marL="91440" marR="91440" marT="45720" marB="45720" anchor="ctr">
                    <a:lnL w="6350" cap="flat" cmpd="sng" algn="ctr">
                      <a:solidFill>
                        <a:srgbClr val="B8860B"/>
                      </a:solidFill>
                      <a:prstDash val="solid"/>
                      <a:round/>
                      <a:headEnd type="none" w="med" len="med"/>
                      <a:tailEnd type="none" w="med" len="med"/>
                    </a:lnL>
                    <a:lnR w="6350" cap="flat" cmpd="sng" algn="ctr">
                      <a:solidFill>
                        <a:srgbClr val="B8860B"/>
                      </a:solidFill>
                      <a:prstDash val="solid"/>
                      <a:round/>
                      <a:headEnd type="none" w="med" len="med"/>
                      <a:tailEnd type="none" w="med" len="med"/>
                    </a:lnR>
                    <a:lnT w="6350" cap="flat" cmpd="sng" algn="ctr">
                      <a:solidFill>
                        <a:srgbClr val="B8860B"/>
                      </a:solidFill>
                      <a:prstDash val="solid"/>
                      <a:round/>
                      <a:headEnd type="none" w="med" len="med"/>
                      <a:tailEnd type="none" w="med" len="med"/>
                    </a:lnT>
                    <a:lnB w="6350" cap="flat" cmpd="sng" algn="ctr">
                      <a:solidFill>
                        <a:srgbClr val="B8860B"/>
                      </a:solidFill>
                      <a:prstDash val="solid"/>
                      <a:round/>
                      <a:headEnd type="none" w="med" len="med"/>
                      <a:tailEnd type="none" w="med" len="med"/>
                    </a:lnB>
                    <a:solidFill>
                      <a:srgbClr val="1C1C1C"/>
                    </a:solidFill>
                  </a:tcPr>
                </a:tc>
              </a:tr>
            </a:tbl>
          </a:graphicData>
        </a:graphic>
      </p:graphicFrame>
      <p:sp>
        <p:nvSpPr>
          <p:cNvPr id="7" name="Shape 4"/>
          <p:cNvSpPr/>
          <p:nvPr/>
        </p:nvSpPr>
        <p:spPr>
          <a:xfrm>
            <a:off x="457200" y="6446520"/>
            <a:ext cx="11247120" cy="16459"/>
          </a:xfrm>
          <a:prstGeom prst="rect">
            <a:avLst/>
          </a:prstGeom>
          <a:solidFill>
            <a:srgbClr val="B8860B"/>
          </a:solidFill>
          <a:ln w="12700">
            <a:solidFill>
              <a:srgbClr val="B8860B"/>
            </a:solidFill>
            <a:prstDash val="solid"/>
          </a:ln>
        </p:spPr>
      </p:sp>
      <p:sp>
        <p:nvSpPr>
          <p:cNvPr id="8" name="Text 5"/>
          <p:cNvSpPr/>
          <p:nvPr/>
        </p:nvSpPr>
        <p:spPr>
          <a:xfrm>
            <a:off x="457200" y="6510528"/>
            <a:ext cx="8229600" cy="274320"/>
          </a:xfrm>
          <a:prstGeom prst="rect">
            <a:avLst/>
          </a:prstGeom>
          <a:noFill/>
          <a:ln/>
        </p:spPr>
        <p:txBody>
          <a:bodyPr wrap="square" lIns="0" tIns="0" rIns="0" bIns="0" rtlCol="0" anchor="t"/>
          <a:lstStyle/>
          <a:p>
            <a:pPr algn="l" indent="0" marL="0">
              <a:buNone/>
            </a:pPr>
            <a:r>
              <a:rPr lang="en-US" sz="1000" dirty="0">
                <a:solidFill>
                  <a:srgbClr val="E8C97A"/>
                </a:solidFill>
                <a:latin typeface="Georgia" pitchFamily="34" charset="0"/>
                <a:ea typeface="Georgia" pitchFamily="34" charset="-122"/>
                <a:cs typeface="Georgia" pitchFamily="34" charset="-120"/>
              </a:rPr>
              <a:t>usmcmin.org</a:t>
            </a:r>
            <a:pPr algn="l" indent="0" marL="0">
              <a:buNone/>
            </a:pPr>
            <a:r>
              <a:rPr lang="en-US" sz="1000" dirty="0">
                <a:solidFill>
                  <a:srgbClr val="9F9580"/>
                </a:solidFill>
                <a:latin typeface="Georgia" pitchFamily="34" charset="0"/>
                <a:ea typeface="Georgia" pitchFamily="34" charset="-122"/>
                <a:cs typeface="Georgia" pitchFamily="34" charset="-120"/>
              </a:rPr>
              <a:t>  ·  </a:t>
            </a:r>
            <a:pPr algn="l" indent="0" marL="0">
              <a:buNone/>
            </a:pPr>
            <a:r>
              <a:rPr lang="en-US" sz="1000" i="1" dirty="0">
                <a:solidFill>
                  <a:srgbClr val="9F9580"/>
                </a:solidFill>
                <a:latin typeface="Georgia" pitchFamily="34" charset="0"/>
                <a:ea typeface="Georgia" pitchFamily="34" charset="-122"/>
                <a:cs typeface="Georgia" pitchFamily="34" charset="-120"/>
              </a:rPr>
              <a:t>“Iron sharpens iron.” — Prov. 27:17</a:t>
            </a:r>
            <a:endParaRPr lang="en-US" sz="1000" dirty="0"/>
          </a:p>
        </p:txBody>
      </p:sp>
      <p:sp>
        <p:nvSpPr>
          <p:cNvPr id="9" name="Text 6"/>
          <p:cNvSpPr/>
          <p:nvPr/>
        </p:nvSpPr>
        <p:spPr>
          <a:xfrm>
            <a:off x="10789920" y="6510528"/>
            <a:ext cx="914400" cy="274320"/>
          </a:xfrm>
          <a:prstGeom prst="rect">
            <a:avLst/>
          </a:prstGeom>
          <a:noFill/>
          <a:ln/>
        </p:spPr>
        <p:txBody>
          <a:bodyPr wrap="square" lIns="0" tIns="0" rIns="0" bIns="0" rtlCol="0" anchor="t"/>
          <a:lstStyle/>
          <a:p>
            <a:pPr algn="r" indent="0" marL="0">
              <a:buNone/>
            </a:pPr>
            <a:r>
              <a:rPr lang="en-US" sz="1000" dirty="0">
                <a:solidFill>
                  <a:srgbClr val="9F9580"/>
                </a:solidFill>
                <a:latin typeface="Georgia" pitchFamily="34" charset="0"/>
                <a:ea typeface="Georgia" pitchFamily="34" charset="-122"/>
                <a:cs typeface="Georgia" pitchFamily="34" charset="-120"/>
              </a:rPr>
              <a:t>3 / 10</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457200" y="320040"/>
            <a:ext cx="8686800" cy="640080"/>
          </a:xfrm>
          <a:prstGeom prst="rect">
            <a:avLst/>
          </a:prstGeom>
          <a:noFill/>
          <a:ln/>
        </p:spPr>
        <p:txBody>
          <a:bodyPr wrap="square" lIns="0" tIns="0" rIns="0" bIns="0" rtlCol="0" anchor="ctr"/>
          <a:lstStyle/>
          <a:p>
            <a:pPr algn="l" indent="0" marL="0">
              <a:buNone/>
            </a:pPr>
            <a:r>
              <a:rPr lang="en-US" sz="2800" b="1" spc="400" kern="0" dirty="0">
                <a:solidFill>
                  <a:srgbClr val="D4A437"/>
                </a:solidFill>
                <a:latin typeface="Georgia" pitchFamily="34" charset="0"/>
                <a:ea typeface="Georgia" pitchFamily="34" charset="-122"/>
                <a:cs typeface="Georgia" pitchFamily="34" charset="-120"/>
              </a:rPr>
              <a:t>CROSSING THE CHASM</a:t>
            </a:r>
            <a:endParaRPr lang="en-US" sz="2800" dirty="0"/>
          </a:p>
        </p:txBody>
      </p:sp>
      <p:sp>
        <p:nvSpPr>
          <p:cNvPr id="3" name="Text 1"/>
          <p:cNvSpPr/>
          <p:nvPr/>
        </p:nvSpPr>
        <p:spPr>
          <a:xfrm>
            <a:off x="9144000" y="320040"/>
            <a:ext cx="2560320" cy="365760"/>
          </a:xfrm>
          <a:prstGeom prst="rect">
            <a:avLst/>
          </a:prstGeom>
          <a:noFill/>
          <a:ln/>
        </p:spPr>
        <p:txBody>
          <a:bodyPr wrap="square" lIns="0" tIns="0" rIns="0" bIns="0" rtlCol="0" anchor="ctr"/>
          <a:lstStyle/>
          <a:p>
            <a:pPr algn="r" indent="0" marL="0">
              <a:buNone/>
            </a:pPr>
            <a:r>
              <a:rPr lang="en-US" sz="1100" spc="300" kern="0" dirty="0">
                <a:solidFill>
                  <a:srgbClr val="9F9580"/>
                </a:solidFill>
                <a:latin typeface="Georgia" pitchFamily="34" charset="0"/>
                <a:ea typeface="Georgia" pitchFamily="34" charset="-122"/>
                <a:cs typeface="Georgia" pitchFamily="34" charset="-120"/>
              </a:rPr>
              <a:t>U.S.M.C. MINISTRIES</a:t>
            </a:r>
            <a:endParaRPr lang="en-US" sz="1100" dirty="0"/>
          </a:p>
        </p:txBody>
      </p:sp>
      <p:sp>
        <p:nvSpPr>
          <p:cNvPr id="4" name="Shape 2"/>
          <p:cNvSpPr/>
          <p:nvPr/>
        </p:nvSpPr>
        <p:spPr>
          <a:xfrm>
            <a:off x="457200" y="1005840"/>
            <a:ext cx="11247120" cy="22860"/>
          </a:xfrm>
          <a:prstGeom prst="rect">
            <a:avLst/>
          </a:prstGeom>
          <a:solidFill>
            <a:srgbClr val="B8860B"/>
          </a:solidFill>
          <a:ln w="12700">
            <a:solidFill>
              <a:srgbClr val="B8860B"/>
            </a:solidFill>
            <a:prstDash val="solid"/>
          </a:ln>
        </p:spPr>
      </p:sp>
      <p:sp>
        <p:nvSpPr>
          <p:cNvPr id="5" name="Text 3"/>
          <p:cNvSpPr/>
          <p:nvPr/>
        </p:nvSpPr>
        <p:spPr>
          <a:xfrm>
            <a:off x="457200" y="1280160"/>
            <a:ext cx="11247120" cy="914400"/>
          </a:xfrm>
          <a:prstGeom prst="rect">
            <a:avLst/>
          </a:prstGeom>
          <a:noFill/>
          <a:ln/>
        </p:spPr>
        <p:txBody>
          <a:bodyPr wrap="square" lIns="0" tIns="0" rIns="0" bIns="0" rtlCol="0" anchor="t"/>
          <a:lstStyle/>
          <a:p>
            <a:pPr algn="l" indent="0" marL="0">
              <a:lnSpc>
                <a:spcPts val="2400"/>
              </a:lnSpc>
              <a:buNone/>
            </a:pPr>
            <a:r>
              <a:rPr lang="en-US" sz="1600" dirty="0">
                <a:solidFill>
                  <a:srgbClr val="EDE6CC"/>
                </a:solidFill>
                <a:latin typeface="Calibri" pitchFamily="34" charset="0"/>
                <a:ea typeface="Calibri" pitchFamily="34" charset="-122"/>
                <a:cs typeface="Calibri" pitchFamily="34" charset="-120"/>
              </a:rPr>
              <a:t>Geoffrey Moore’s observation: most movements die in the gap between Early Adopters and Early Majority. They never get the references, social proof, and whole-product readiness the pragmatic majority demands.</a:t>
            </a:r>
            <a:endParaRPr lang="en-US" sz="1600" dirty="0"/>
          </a:p>
        </p:txBody>
      </p:sp>
      <p:sp>
        <p:nvSpPr>
          <p:cNvPr id="6" name="Shape 4"/>
          <p:cNvSpPr/>
          <p:nvPr/>
        </p:nvSpPr>
        <p:spPr>
          <a:xfrm>
            <a:off x="640080" y="4480560"/>
            <a:ext cx="2011680" cy="640080"/>
          </a:xfrm>
          <a:prstGeom prst="rect">
            <a:avLst/>
          </a:prstGeom>
          <a:solidFill>
            <a:srgbClr val="B8860B"/>
          </a:solidFill>
          <a:ln w="12700">
            <a:solidFill>
              <a:srgbClr val="B8860B"/>
            </a:solidFill>
            <a:prstDash val="solid"/>
          </a:ln>
        </p:spPr>
      </p:sp>
      <p:sp>
        <p:nvSpPr>
          <p:cNvPr id="7" name="Text 5"/>
          <p:cNvSpPr/>
          <p:nvPr/>
        </p:nvSpPr>
        <p:spPr>
          <a:xfrm>
            <a:off x="640080" y="4069080"/>
            <a:ext cx="2011680" cy="320040"/>
          </a:xfrm>
          <a:prstGeom prst="rect">
            <a:avLst/>
          </a:prstGeom>
          <a:noFill/>
          <a:ln/>
        </p:spPr>
        <p:txBody>
          <a:bodyPr wrap="square" lIns="0" tIns="0" rIns="0" bIns="0" rtlCol="0" anchor="ctr"/>
          <a:lstStyle/>
          <a:p>
            <a:pPr algn="ctr" indent="0" marL="0">
              <a:buNone/>
            </a:pPr>
            <a:r>
              <a:rPr lang="en-US" sz="1400" b="1" dirty="0">
                <a:solidFill>
                  <a:srgbClr val="E8C97A"/>
                </a:solidFill>
                <a:latin typeface="Georgia" pitchFamily="34" charset="0"/>
                <a:ea typeface="Georgia" pitchFamily="34" charset="-122"/>
                <a:cs typeface="Georgia" pitchFamily="34" charset="-120"/>
              </a:rPr>
              <a:t>2.5%</a:t>
            </a:r>
            <a:endParaRPr lang="en-US" sz="1400" dirty="0"/>
          </a:p>
        </p:txBody>
      </p:sp>
      <p:sp>
        <p:nvSpPr>
          <p:cNvPr id="8" name="Text 6"/>
          <p:cNvSpPr/>
          <p:nvPr/>
        </p:nvSpPr>
        <p:spPr>
          <a:xfrm>
            <a:off x="640080" y="5166360"/>
            <a:ext cx="2011680" cy="365760"/>
          </a:xfrm>
          <a:prstGeom prst="rect">
            <a:avLst/>
          </a:prstGeom>
          <a:noFill/>
          <a:ln/>
        </p:spPr>
        <p:txBody>
          <a:bodyPr wrap="square" lIns="0" tIns="0" rIns="0" bIns="0" rtlCol="0" anchor="ctr"/>
          <a:lstStyle/>
          <a:p>
            <a:pPr algn="ctr" indent="0" marL="0">
              <a:buNone/>
            </a:pPr>
            <a:r>
              <a:rPr lang="en-US" sz="1300" dirty="0">
                <a:solidFill>
                  <a:srgbClr val="EDE6CC"/>
                </a:solidFill>
                <a:latin typeface="Calibri" pitchFamily="34" charset="0"/>
                <a:ea typeface="Calibri" pitchFamily="34" charset="-122"/>
                <a:cs typeface="Calibri" pitchFamily="34" charset="-120"/>
              </a:rPr>
              <a:t>Innovators</a:t>
            </a:r>
            <a:endParaRPr lang="en-US" sz="1300" dirty="0"/>
          </a:p>
        </p:txBody>
      </p:sp>
      <p:sp>
        <p:nvSpPr>
          <p:cNvPr id="9" name="Shape 7"/>
          <p:cNvSpPr/>
          <p:nvPr/>
        </p:nvSpPr>
        <p:spPr>
          <a:xfrm>
            <a:off x="2834640" y="3291840"/>
            <a:ext cx="2011680" cy="1828800"/>
          </a:xfrm>
          <a:prstGeom prst="rect">
            <a:avLst/>
          </a:prstGeom>
          <a:solidFill>
            <a:srgbClr val="D4A437"/>
          </a:solidFill>
          <a:ln w="12700">
            <a:solidFill>
              <a:srgbClr val="D4A437"/>
            </a:solidFill>
            <a:prstDash val="solid"/>
          </a:ln>
        </p:spPr>
      </p:sp>
      <p:sp>
        <p:nvSpPr>
          <p:cNvPr id="10" name="Text 8"/>
          <p:cNvSpPr/>
          <p:nvPr/>
        </p:nvSpPr>
        <p:spPr>
          <a:xfrm>
            <a:off x="2834640" y="2880360"/>
            <a:ext cx="2011680" cy="320040"/>
          </a:xfrm>
          <a:prstGeom prst="rect">
            <a:avLst/>
          </a:prstGeom>
          <a:noFill/>
          <a:ln/>
        </p:spPr>
        <p:txBody>
          <a:bodyPr wrap="square" lIns="0" tIns="0" rIns="0" bIns="0" rtlCol="0" anchor="ctr"/>
          <a:lstStyle/>
          <a:p>
            <a:pPr algn="ctr" indent="0" marL="0">
              <a:buNone/>
            </a:pPr>
            <a:r>
              <a:rPr lang="en-US" sz="1400" b="1" dirty="0">
                <a:solidFill>
                  <a:srgbClr val="E8C97A"/>
                </a:solidFill>
                <a:latin typeface="Georgia" pitchFamily="34" charset="0"/>
                <a:ea typeface="Georgia" pitchFamily="34" charset="-122"/>
                <a:cs typeface="Georgia" pitchFamily="34" charset="-120"/>
              </a:rPr>
              <a:t>13.5%</a:t>
            </a:r>
            <a:endParaRPr lang="en-US" sz="1400" dirty="0"/>
          </a:p>
        </p:txBody>
      </p:sp>
      <p:sp>
        <p:nvSpPr>
          <p:cNvPr id="11" name="Text 9"/>
          <p:cNvSpPr/>
          <p:nvPr/>
        </p:nvSpPr>
        <p:spPr>
          <a:xfrm>
            <a:off x="2834640" y="5166360"/>
            <a:ext cx="2011680" cy="365760"/>
          </a:xfrm>
          <a:prstGeom prst="rect">
            <a:avLst/>
          </a:prstGeom>
          <a:noFill/>
          <a:ln/>
        </p:spPr>
        <p:txBody>
          <a:bodyPr wrap="square" lIns="0" tIns="0" rIns="0" bIns="0" rtlCol="0" anchor="ctr"/>
          <a:lstStyle/>
          <a:p>
            <a:pPr algn="ctr" indent="0" marL="0">
              <a:buNone/>
            </a:pPr>
            <a:r>
              <a:rPr lang="en-US" sz="1300" dirty="0">
                <a:solidFill>
                  <a:srgbClr val="EDE6CC"/>
                </a:solidFill>
                <a:latin typeface="Calibri" pitchFamily="34" charset="0"/>
                <a:ea typeface="Calibri" pitchFamily="34" charset="-122"/>
                <a:cs typeface="Calibri" pitchFamily="34" charset="-120"/>
              </a:rPr>
              <a:t>Early Adopters</a:t>
            </a:r>
            <a:endParaRPr lang="en-US" sz="1300" dirty="0"/>
          </a:p>
        </p:txBody>
      </p:sp>
      <p:sp>
        <p:nvSpPr>
          <p:cNvPr id="12" name="Shape 10"/>
          <p:cNvSpPr/>
          <p:nvPr/>
        </p:nvSpPr>
        <p:spPr>
          <a:xfrm>
            <a:off x="5029200" y="2377440"/>
            <a:ext cx="2011680" cy="2743200"/>
          </a:xfrm>
          <a:prstGeom prst="rect">
            <a:avLst/>
          </a:prstGeom>
          <a:solidFill>
            <a:srgbClr val="E8C97A"/>
          </a:solidFill>
          <a:ln w="12700">
            <a:solidFill>
              <a:srgbClr val="E8C97A"/>
            </a:solidFill>
            <a:prstDash val="solid"/>
          </a:ln>
        </p:spPr>
      </p:sp>
      <p:sp>
        <p:nvSpPr>
          <p:cNvPr id="13" name="Text 11"/>
          <p:cNvSpPr/>
          <p:nvPr/>
        </p:nvSpPr>
        <p:spPr>
          <a:xfrm>
            <a:off x="5029200" y="1965960"/>
            <a:ext cx="2011680" cy="320040"/>
          </a:xfrm>
          <a:prstGeom prst="rect">
            <a:avLst/>
          </a:prstGeom>
          <a:noFill/>
          <a:ln/>
        </p:spPr>
        <p:txBody>
          <a:bodyPr wrap="square" lIns="0" tIns="0" rIns="0" bIns="0" rtlCol="0" anchor="ctr"/>
          <a:lstStyle/>
          <a:p>
            <a:pPr algn="ctr" indent="0" marL="0">
              <a:buNone/>
            </a:pPr>
            <a:r>
              <a:rPr lang="en-US" sz="1400" b="1" dirty="0">
                <a:solidFill>
                  <a:srgbClr val="E8C97A"/>
                </a:solidFill>
                <a:latin typeface="Georgia" pitchFamily="34" charset="0"/>
                <a:ea typeface="Georgia" pitchFamily="34" charset="-122"/>
                <a:cs typeface="Georgia" pitchFamily="34" charset="-120"/>
              </a:rPr>
              <a:t>34%</a:t>
            </a:r>
            <a:endParaRPr lang="en-US" sz="1400" dirty="0"/>
          </a:p>
        </p:txBody>
      </p:sp>
      <p:sp>
        <p:nvSpPr>
          <p:cNvPr id="14" name="Text 12"/>
          <p:cNvSpPr/>
          <p:nvPr/>
        </p:nvSpPr>
        <p:spPr>
          <a:xfrm>
            <a:off x="5029200" y="5166360"/>
            <a:ext cx="2011680" cy="365760"/>
          </a:xfrm>
          <a:prstGeom prst="rect">
            <a:avLst/>
          </a:prstGeom>
          <a:noFill/>
          <a:ln/>
        </p:spPr>
        <p:txBody>
          <a:bodyPr wrap="square" lIns="0" tIns="0" rIns="0" bIns="0" rtlCol="0" anchor="ctr"/>
          <a:lstStyle/>
          <a:p>
            <a:pPr algn="ctr" indent="0" marL="0">
              <a:buNone/>
            </a:pPr>
            <a:r>
              <a:rPr lang="en-US" sz="1300" dirty="0">
                <a:solidFill>
                  <a:srgbClr val="EDE6CC"/>
                </a:solidFill>
                <a:latin typeface="Calibri" pitchFamily="34" charset="0"/>
                <a:ea typeface="Calibri" pitchFamily="34" charset="-122"/>
                <a:cs typeface="Calibri" pitchFamily="34" charset="-120"/>
              </a:rPr>
              <a:t>Early Majority</a:t>
            </a:r>
            <a:endParaRPr lang="en-US" sz="1300" dirty="0"/>
          </a:p>
        </p:txBody>
      </p:sp>
      <p:sp>
        <p:nvSpPr>
          <p:cNvPr id="15" name="Shape 13"/>
          <p:cNvSpPr/>
          <p:nvPr/>
        </p:nvSpPr>
        <p:spPr>
          <a:xfrm>
            <a:off x="7223760" y="2377440"/>
            <a:ext cx="2011680" cy="2743200"/>
          </a:xfrm>
          <a:prstGeom prst="rect">
            <a:avLst/>
          </a:prstGeom>
          <a:solidFill>
            <a:srgbClr val="E8C97A"/>
          </a:solidFill>
          <a:ln w="12700">
            <a:solidFill>
              <a:srgbClr val="E8C97A"/>
            </a:solidFill>
            <a:prstDash val="solid"/>
          </a:ln>
        </p:spPr>
      </p:sp>
      <p:sp>
        <p:nvSpPr>
          <p:cNvPr id="16" name="Text 14"/>
          <p:cNvSpPr/>
          <p:nvPr/>
        </p:nvSpPr>
        <p:spPr>
          <a:xfrm>
            <a:off x="7223760" y="1965960"/>
            <a:ext cx="2011680" cy="320040"/>
          </a:xfrm>
          <a:prstGeom prst="rect">
            <a:avLst/>
          </a:prstGeom>
          <a:noFill/>
          <a:ln/>
        </p:spPr>
        <p:txBody>
          <a:bodyPr wrap="square" lIns="0" tIns="0" rIns="0" bIns="0" rtlCol="0" anchor="ctr"/>
          <a:lstStyle/>
          <a:p>
            <a:pPr algn="ctr" indent="0" marL="0">
              <a:buNone/>
            </a:pPr>
            <a:r>
              <a:rPr lang="en-US" sz="1400" b="1" dirty="0">
                <a:solidFill>
                  <a:srgbClr val="E8C97A"/>
                </a:solidFill>
                <a:latin typeface="Georgia" pitchFamily="34" charset="0"/>
                <a:ea typeface="Georgia" pitchFamily="34" charset="-122"/>
                <a:cs typeface="Georgia" pitchFamily="34" charset="-120"/>
              </a:rPr>
              <a:t>34%</a:t>
            </a:r>
            <a:endParaRPr lang="en-US" sz="1400" dirty="0"/>
          </a:p>
        </p:txBody>
      </p:sp>
      <p:sp>
        <p:nvSpPr>
          <p:cNvPr id="17" name="Text 15"/>
          <p:cNvSpPr/>
          <p:nvPr/>
        </p:nvSpPr>
        <p:spPr>
          <a:xfrm>
            <a:off x="7223760" y="5166360"/>
            <a:ext cx="2011680" cy="365760"/>
          </a:xfrm>
          <a:prstGeom prst="rect">
            <a:avLst/>
          </a:prstGeom>
          <a:noFill/>
          <a:ln/>
        </p:spPr>
        <p:txBody>
          <a:bodyPr wrap="square" lIns="0" tIns="0" rIns="0" bIns="0" rtlCol="0" anchor="ctr"/>
          <a:lstStyle/>
          <a:p>
            <a:pPr algn="ctr" indent="0" marL="0">
              <a:buNone/>
            </a:pPr>
            <a:r>
              <a:rPr lang="en-US" sz="1300" dirty="0">
                <a:solidFill>
                  <a:srgbClr val="EDE6CC"/>
                </a:solidFill>
                <a:latin typeface="Calibri" pitchFamily="34" charset="0"/>
                <a:ea typeface="Calibri" pitchFamily="34" charset="-122"/>
                <a:cs typeface="Calibri" pitchFamily="34" charset="-120"/>
              </a:rPr>
              <a:t>Late Majority</a:t>
            </a:r>
            <a:endParaRPr lang="en-US" sz="1300" dirty="0"/>
          </a:p>
        </p:txBody>
      </p:sp>
      <p:sp>
        <p:nvSpPr>
          <p:cNvPr id="18" name="Shape 16"/>
          <p:cNvSpPr/>
          <p:nvPr/>
        </p:nvSpPr>
        <p:spPr>
          <a:xfrm>
            <a:off x="9418320" y="3749040"/>
            <a:ext cx="2011680" cy="1371600"/>
          </a:xfrm>
          <a:prstGeom prst="rect">
            <a:avLst/>
          </a:prstGeom>
          <a:solidFill>
            <a:srgbClr val="B8860B"/>
          </a:solidFill>
          <a:ln w="12700">
            <a:solidFill>
              <a:srgbClr val="B8860B"/>
            </a:solidFill>
            <a:prstDash val="solid"/>
          </a:ln>
        </p:spPr>
      </p:sp>
      <p:sp>
        <p:nvSpPr>
          <p:cNvPr id="19" name="Text 17"/>
          <p:cNvSpPr/>
          <p:nvPr/>
        </p:nvSpPr>
        <p:spPr>
          <a:xfrm>
            <a:off x="9418320" y="3337560"/>
            <a:ext cx="2011680" cy="320040"/>
          </a:xfrm>
          <a:prstGeom prst="rect">
            <a:avLst/>
          </a:prstGeom>
          <a:noFill/>
          <a:ln/>
        </p:spPr>
        <p:txBody>
          <a:bodyPr wrap="square" lIns="0" tIns="0" rIns="0" bIns="0" rtlCol="0" anchor="ctr"/>
          <a:lstStyle/>
          <a:p>
            <a:pPr algn="ctr" indent="0" marL="0">
              <a:buNone/>
            </a:pPr>
            <a:r>
              <a:rPr lang="en-US" sz="1400" b="1" dirty="0">
                <a:solidFill>
                  <a:srgbClr val="E8C97A"/>
                </a:solidFill>
                <a:latin typeface="Georgia" pitchFamily="34" charset="0"/>
                <a:ea typeface="Georgia" pitchFamily="34" charset="-122"/>
                <a:cs typeface="Georgia" pitchFamily="34" charset="-120"/>
              </a:rPr>
              <a:t>16%</a:t>
            </a:r>
            <a:endParaRPr lang="en-US" sz="1400" dirty="0"/>
          </a:p>
        </p:txBody>
      </p:sp>
      <p:sp>
        <p:nvSpPr>
          <p:cNvPr id="20" name="Text 18"/>
          <p:cNvSpPr/>
          <p:nvPr/>
        </p:nvSpPr>
        <p:spPr>
          <a:xfrm>
            <a:off x="9418320" y="5166360"/>
            <a:ext cx="2011680" cy="365760"/>
          </a:xfrm>
          <a:prstGeom prst="rect">
            <a:avLst/>
          </a:prstGeom>
          <a:noFill/>
          <a:ln/>
        </p:spPr>
        <p:txBody>
          <a:bodyPr wrap="square" lIns="0" tIns="0" rIns="0" bIns="0" rtlCol="0" anchor="ctr"/>
          <a:lstStyle/>
          <a:p>
            <a:pPr algn="ctr" indent="0" marL="0">
              <a:buNone/>
            </a:pPr>
            <a:r>
              <a:rPr lang="en-US" sz="1300" dirty="0">
                <a:solidFill>
                  <a:srgbClr val="EDE6CC"/>
                </a:solidFill>
                <a:latin typeface="Calibri" pitchFamily="34" charset="0"/>
                <a:ea typeface="Calibri" pitchFamily="34" charset="-122"/>
                <a:cs typeface="Calibri" pitchFamily="34" charset="-120"/>
              </a:rPr>
              <a:t>Laggards</a:t>
            </a:r>
            <a:endParaRPr lang="en-US" sz="1300" dirty="0"/>
          </a:p>
        </p:txBody>
      </p:sp>
      <p:sp>
        <p:nvSpPr>
          <p:cNvPr id="21" name="Shape 19"/>
          <p:cNvSpPr/>
          <p:nvPr/>
        </p:nvSpPr>
        <p:spPr>
          <a:xfrm>
            <a:off x="4919472" y="2240280"/>
            <a:ext cx="36576" cy="2880360"/>
          </a:xfrm>
          <a:prstGeom prst="rect">
            <a:avLst/>
          </a:prstGeom>
          <a:solidFill>
            <a:srgbClr val="D4A437"/>
          </a:solidFill>
          <a:ln w="12700">
            <a:solidFill>
              <a:srgbClr val="D4A437"/>
            </a:solidFill>
            <a:prstDash val="solid"/>
          </a:ln>
        </p:spPr>
      </p:sp>
      <p:sp>
        <p:nvSpPr>
          <p:cNvPr id="22" name="Text 20"/>
          <p:cNvSpPr/>
          <p:nvPr/>
        </p:nvSpPr>
        <p:spPr>
          <a:xfrm>
            <a:off x="3931920" y="5623560"/>
            <a:ext cx="2011680" cy="365760"/>
          </a:xfrm>
          <a:prstGeom prst="rect">
            <a:avLst/>
          </a:prstGeom>
          <a:noFill/>
          <a:ln/>
        </p:spPr>
        <p:txBody>
          <a:bodyPr wrap="square" lIns="0" tIns="0" rIns="0" bIns="0" rtlCol="0" anchor="ctr"/>
          <a:lstStyle/>
          <a:p>
            <a:pPr algn="ctr" indent="0" marL="0">
              <a:buNone/>
            </a:pPr>
            <a:r>
              <a:rPr lang="en-US" sz="1300" b="1" spc="400" kern="0" dirty="0">
                <a:solidFill>
                  <a:srgbClr val="D4A437"/>
                </a:solidFill>
                <a:latin typeface="Georgia" pitchFamily="34" charset="0"/>
                <a:ea typeface="Georgia" pitchFamily="34" charset="-122"/>
                <a:cs typeface="Georgia" pitchFamily="34" charset="-120"/>
              </a:rPr>
              <a:t>THE CHASM</a:t>
            </a:r>
            <a:endParaRPr lang="en-US" sz="1300" dirty="0"/>
          </a:p>
        </p:txBody>
      </p:sp>
      <p:sp>
        <p:nvSpPr>
          <p:cNvPr id="23" name="Shape 21"/>
          <p:cNvSpPr/>
          <p:nvPr/>
        </p:nvSpPr>
        <p:spPr>
          <a:xfrm>
            <a:off x="457200" y="6446520"/>
            <a:ext cx="11247120" cy="16459"/>
          </a:xfrm>
          <a:prstGeom prst="rect">
            <a:avLst/>
          </a:prstGeom>
          <a:solidFill>
            <a:srgbClr val="B8860B"/>
          </a:solidFill>
          <a:ln w="12700">
            <a:solidFill>
              <a:srgbClr val="B8860B"/>
            </a:solidFill>
            <a:prstDash val="solid"/>
          </a:ln>
        </p:spPr>
      </p:sp>
      <p:sp>
        <p:nvSpPr>
          <p:cNvPr id="24" name="Text 22"/>
          <p:cNvSpPr/>
          <p:nvPr/>
        </p:nvSpPr>
        <p:spPr>
          <a:xfrm>
            <a:off x="457200" y="6510528"/>
            <a:ext cx="8229600" cy="274320"/>
          </a:xfrm>
          <a:prstGeom prst="rect">
            <a:avLst/>
          </a:prstGeom>
          <a:noFill/>
          <a:ln/>
        </p:spPr>
        <p:txBody>
          <a:bodyPr wrap="square" lIns="0" tIns="0" rIns="0" bIns="0" rtlCol="0" anchor="t"/>
          <a:lstStyle/>
          <a:p>
            <a:pPr algn="l" indent="0" marL="0">
              <a:buNone/>
            </a:pPr>
            <a:r>
              <a:rPr lang="en-US" sz="1000" dirty="0">
                <a:solidFill>
                  <a:srgbClr val="E8C97A"/>
                </a:solidFill>
                <a:latin typeface="Georgia" pitchFamily="34" charset="0"/>
                <a:ea typeface="Georgia" pitchFamily="34" charset="-122"/>
                <a:cs typeface="Georgia" pitchFamily="34" charset="-120"/>
              </a:rPr>
              <a:t>usmcmin.org</a:t>
            </a:r>
            <a:pPr algn="l" indent="0" marL="0">
              <a:buNone/>
            </a:pPr>
            <a:r>
              <a:rPr lang="en-US" sz="1000" dirty="0">
                <a:solidFill>
                  <a:srgbClr val="9F9580"/>
                </a:solidFill>
                <a:latin typeface="Georgia" pitchFamily="34" charset="0"/>
                <a:ea typeface="Georgia" pitchFamily="34" charset="-122"/>
                <a:cs typeface="Georgia" pitchFamily="34" charset="-120"/>
              </a:rPr>
              <a:t>  ·  </a:t>
            </a:r>
            <a:pPr algn="l" indent="0" marL="0">
              <a:buNone/>
            </a:pPr>
            <a:r>
              <a:rPr lang="en-US" sz="1000" i="1" dirty="0">
                <a:solidFill>
                  <a:srgbClr val="9F9580"/>
                </a:solidFill>
                <a:latin typeface="Georgia" pitchFamily="34" charset="0"/>
                <a:ea typeface="Georgia" pitchFamily="34" charset="-122"/>
                <a:cs typeface="Georgia" pitchFamily="34" charset="-120"/>
              </a:rPr>
              <a:t>“Iron sharpens iron.” — Prov. 27:17</a:t>
            </a:r>
            <a:endParaRPr lang="en-US" sz="1000" dirty="0"/>
          </a:p>
        </p:txBody>
      </p:sp>
      <p:sp>
        <p:nvSpPr>
          <p:cNvPr id="25" name="Text 23"/>
          <p:cNvSpPr/>
          <p:nvPr/>
        </p:nvSpPr>
        <p:spPr>
          <a:xfrm>
            <a:off x="10789920" y="6510528"/>
            <a:ext cx="914400" cy="274320"/>
          </a:xfrm>
          <a:prstGeom prst="rect">
            <a:avLst/>
          </a:prstGeom>
          <a:noFill/>
          <a:ln/>
        </p:spPr>
        <p:txBody>
          <a:bodyPr wrap="square" lIns="0" tIns="0" rIns="0" bIns="0" rtlCol="0" anchor="t"/>
          <a:lstStyle/>
          <a:p>
            <a:pPr algn="r" indent="0" marL="0">
              <a:buNone/>
            </a:pPr>
            <a:r>
              <a:rPr lang="en-US" sz="1000" dirty="0">
                <a:solidFill>
                  <a:srgbClr val="9F9580"/>
                </a:solidFill>
                <a:latin typeface="Georgia" pitchFamily="34" charset="0"/>
                <a:ea typeface="Georgia" pitchFamily="34" charset="-122"/>
                <a:cs typeface="Georgia" pitchFamily="34" charset="-120"/>
              </a:rPr>
              <a:t>4 / 10</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457200" y="320040"/>
            <a:ext cx="8686800" cy="640080"/>
          </a:xfrm>
          <a:prstGeom prst="rect">
            <a:avLst/>
          </a:prstGeom>
          <a:noFill/>
          <a:ln/>
        </p:spPr>
        <p:txBody>
          <a:bodyPr wrap="square" lIns="0" tIns="0" rIns="0" bIns="0" rtlCol="0" anchor="ctr"/>
          <a:lstStyle/>
          <a:p>
            <a:pPr algn="l" indent="0" marL="0">
              <a:buNone/>
            </a:pPr>
            <a:r>
              <a:rPr lang="en-US" sz="2800" b="1" spc="400" kern="0" dirty="0">
                <a:solidFill>
                  <a:srgbClr val="D4A437"/>
                </a:solidFill>
                <a:latin typeface="Georgia" pitchFamily="34" charset="0"/>
                <a:ea typeface="Georgia" pitchFamily="34" charset="-122"/>
                <a:cs typeface="Georgia" pitchFamily="34" charset="-120"/>
              </a:rPr>
              <a:t>BIBLICAL FOUNDATION</a:t>
            </a:r>
            <a:endParaRPr lang="en-US" sz="2800" dirty="0"/>
          </a:p>
        </p:txBody>
      </p:sp>
      <p:sp>
        <p:nvSpPr>
          <p:cNvPr id="3" name="Text 1"/>
          <p:cNvSpPr/>
          <p:nvPr/>
        </p:nvSpPr>
        <p:spPr>
          <a:xfrm>
            <a:off x="9144000" y="320040"/>
            <a:ext cx="2560320" cy="365760"/>
          </a:xfrm>
          <a:prstGeom prst="rect">
            <a:avLst/>
          </a:prstGeom>
          <a:noFill/>
          <a:ln/>
        </p:spPr>
        <p:txBody>
          <a:bodyPr wrap="square" lIns="0" tIns="0" rIns="0" bIns="0" rtlCol="0" anchor="ctr"/>
          <a:lstStyle/>
          <a:p>
            <a:pPr algn="r" indent="0" marL="0">
              <a:buNone/>
            </a:pPr>
            <a:r>
              <a:rPr lang="en-US" sz="1100" spc="300" kern="0" dirty="0">
                <a:solidFill>
                  <a:srgbClr val="9F9580"/>
                </a:solidFill>
                <a:latin typeface="Georgia" pitchFamily="34" charset="0"/>
                <a:ea typeface="Georgia" pitchFamily="34" charset="-122"/>
                <a:cs typeface="Georgia" pitchFamily="34" charset="-120"/>
              </a:rPr>
              <a:t>U.S.M.C. MINISTRIES</a:t>
            </a:r>
            <a:endParaRPr lang="en-US" sz="1100" dirty="0"/>
          </a:p>
        </p:txBody>
      </p:sp>
      <p:sp>
        <p:nvSpPr>
          <p:cNvPr id="4" name="Shape 2"/>
          <p:cNvSpPr/>
          <p:nvPr/>
        </p:nvSpPr>
        <p:spPr>
          <a:xfrm>
            <a:off x="457200" y="1005840"/>
            <a:ext cx="11247120" cy="22860"/>
          </a:xfrm>
          <a:prstGeom prst="rect">
            <a:avLst/>
          </a:prstGeom>
          <a:solidFill>
            <a:srgbClr val="B8860B"/>
          </a:solidFill>
          <a:ln w="12700">
            <a:solidFill>
              <a:srgbClr val="B8860B"/>
            </a:solidFill>
            <a:prstDash val="solid"/>
          </a:ln>
        </p:spPr>
      </p:sp>
      <p:sp>
        <p:nvSpPr>
          <p:cNvPr id="5" name="Text 3"/>
          <p:cNvSpPr/>
          <p:nvPr/>
        </p:nvSpPr>
        <p:spPr>
          <a:xfrm>
            <a:off x="457200" y="1188720"/>
            <a:ext cx="11247120" cy="640080"/>
          </a:xfrm>
          <a:prstGeom prst="rect">
            <a:avLst/>
          </a:prstGeom>
          <a:noFill/>
          <a:ln/>
        </p:spPr>
        <p:txBody>
          <a:bodyPr wrap="square" lIns="0" tIns="0" rIns="0" bIns="0" rtlCol="0" anchor="t"/>
          <a:lstStyle/>
          <a:p>
            <a:pPr algn="l" indent="0" marL="0">
              <a:buNone/>
            </a:pPr>
            <a:r>
              <a:rPr lang="en-US" sz="1800" i="1" dirty="0">
                <a:solidFill>
                  <a:srgbClr val="E8C97A"/>
                </a:solidFill>
                <a:latin typeface="Georgia" pitchFamily="34" charset="0"/>
                <a:ea typeface="Georgia" pitchFamily="34" charset="-122"/>
                <a:cs typeface="Georgia" pitchFamily="34" charset="-120"/>
              </a:rPr>
              <a:t>Selective discipleship is the pattern of Christ and the apostles—not a marketing concession.</a:t>
            </a:r>
            <a:endParaRPr lang="en-US" sz="1800" dirty="0"/>
          </a:p>
        </p:txBody>
      </p:sp>
      <p:sp>
        <p:nvSpPr>
          <p:cNvPr id="6" name="Shape 4"/>
          <p:cNvSpPr/>
          <p:nvPr/>
        </p:nvSpPr>
        <p:spPr>
          <a:xfrm>
            <a:off x="457200" y="1965960"/>
            <a:ext cx="5440680" cy="2057400"/>
          </a:xfrm>
          <a:prstGeom prst="rect">
            <a:avLst/>
          </a:prstGeom>
          <a:solidFill>
            <a:srgbClr val="1C1C1C"/>
          </a:solidFill>
          <a:ln w="9525">
            <a:solidFill>
              <a:srgbClr val="B8860B"/>
            </a:solidFill>
            <a:prstDash val="solid"/>
          </a:ln>
        </p:spPr>
      </p:sp>
      <p:sp>
        <p:nvSpPr>
          <p:cNvPr id="7" name="Shape 5"/>
          <p:cNvSpPr/>
          <p:nvPr/>
        </p:nvSpPr>
        <p:spPr>
          <a:xfrm>
            <a:off x="457200" y="1965960"/>
            <a:ext cx="73152" cy="2057400"/>
          </a:xfrm>
          <a:prstGeom prst="rect">
            <a:avLst/>
          </a:prstGeom>
          <a:solidFill>
            <a:srgbClr val="D4A437"/>
          </a:solidFill>
          <a:ln w="12700">
            <a:solidFill>
              <a:srgbClr val="D4A437"/>
            </a:solidFill>
            <a:prstDash val="solid"/>
          </a:ln>
        </p:spPr>
      </p:sp>
      <p:sp>
        <p:nvSpPr>
          <p:cNvPr id="8" name="Text 6"/>
          <p:cNvSpPr/>
          <p:nvPr/>
        </p:nvSpPr>
        <p:spPr>
          <a:xfrm>
            <a:off x="731520" y="2148840"/>
            <a:ext cx="5074920" cy="320040"/>
          </a:xfrm>
          <a:prstGeom prst="rect">
            <a:avLst/>
          </a:prstGeom>
          <a:noFill/>
          <a:ln/>
        </p:spPr>
        <p:txBody>
          <a:bodyPr wrap="square" lIns="0" tIns="0" rIns="0" bIns="0" rtlCol="0" anchor="ctr"/>
          <a:lstStyle/>
          <a:p>
            <a:pPr algn="l" indent="0" marL="0">
              <a:buNone/>
            </a:pPr>
            <a:r>
              <a:rPr lang="en-US" sz="1100" spc="300" kern="0" dirty="0">
                <a:solidFill>
                  <a:srgbClr val="D4A437"/>
                </a:solidFill>
                <a:latin typeface="Georgia" pitchFamily="34" charset="0"/>
                <a:ea typeface="Georgia" pitchFamily="34" charset="-122"/>
                <a:cs typeface="Georgia" pitchFamily="34" charset="-120"/>
              </a:rPr>
              <a:t>Matthew 13:1–23</a:t>
            </a:r>
            <a:endParaRPr lang="en-US" sz="1100" dirty="0"/>
          </a:p>
        </p:txBody>
      </p:sp>
      <p:sp>
        <p:nvSpPr>
          <p:cNvPr id="9" name="Text 7"/>
          <p:cNvSpPr/>
          <p:nvPr/>
        </p:nvSpPr>
        <p:spPr>
          <a:xfrm>
            <a:off x="731520" y="2468880"/>
            <a:ext cx="5074920" cy="457200"/>
          </a:xfrm>
          <a:prstGeom prst="rect">
            <a:avLst/>
          </a:prstGeom>
          <a:noFill/>
          <a:ln/>
        </p:spPr>
        <p:txBody>
          <a:bodyPr wrap="square" lIns="0" tIns="0" rIns="0" bIns="0" rtlCol="0" anchor="ctr"/>
          <a:lstStyle/>
          <a:p>
            <a:pPr algn="l" indent="0" marL="0">
              <a:buNone/>
            </a:pPr>
            <a:r>
              <a:rPr lang="en-US" sz="1800" b="1" dirty="0">
                <a:solidFill>
                  <a:srgbClr val="E8C97A"/>
                </a:solidFill>
                <a:latin typeface="Georgia" pitchFamily="34" charset="0"/>
                <a:ea typeface="Georgia" pitchFamily="34" charset="-122"/>
                <a:cs typeface="Georgia" pitchFamily="34" charset="-120"/>
              </a:rPr>
              <a:t>PARABLE OF THE SOWER</a:t>
            </a:r>
            <a:endParaRPr lang="en-US" sz="1800" dirty="0"/>
          </a:p>
        </p:txBody>
      </p:sp>
      <p:sp>
        <p:nvSpPr>
          <p:cNvPr id="10" name="Text 8"/>
          <p:cNvSpPr/>
          <p:nvPr/>
        </p:nvSpPr>
        <p:spPr>
          <a:xfrm>
            <a:off x="731520" y="2971800"/>
            <a:ext cx="5074920" cy="960120"/>
          </a:xfrm>
          <a:prstGeom prst="rect">
            <a:avLst/>
          </a:prstGeom>
          <a:noFill/>
          <a:ln/>
        </p:spPr>
        <p:txBody>
          <a:bodyPr wrap="square" lIns="0" tIns="0" rIns="0" bIns="0" rtlCol="0" anchor="t"/>
          <a:lstStyle/>
          <a:p>
            <a:pPr algn="l" indent="0" marL="0">
              <a:lnSpc>
                <a:spcPts val="2000"/>
              </a:lnSpc>
              <a:buNone/>
            </a:pPr>
            <a:r>
              <a:rPr lang="en-US" sz="1300" dirty="0">
                <a:solidFill>
                  <a:srgbClr val="EDE6CC"/>
                </a:solidFill>
                <a:latin typeface="Calibri" pitchFamily="34" charset="0"/>
                <a:ea typeface="Calibri" pitchFamily="34" charset="-122"/>
                <a:cs typeface="Calibri" pitchFamily="34" charset="-120"/>
              </a:rPr>
              <a:t>Four soils, four responses, one Sower who keeps sowing while investing depth in the good ground.</a:t>
            </a:r>
            <a:endParaRPr lang="en-US" sz="1300" dirty="0"/>
          </a:p>
        </p:txBody>
      </p:sp>
      <p:sp>
        <p:nvSpPr>
          <p:cNvPr id="11" name="Shape 9"/>
          <p:cNvSpPr/>
          <p:nvPr/>
        </p:nvSpPr>
        <p:spPr>
          <a:xfrm>
            <a:off x="6126480" y="1965960"/>
            <a:ext cx="5440680" cy="2057400"/>
          </a:xfrm>
          <a:prstGeom prst="rect">
            <a:avLst/>
          </a:prstGeom>
          <a:solidFill>
            <a:srgbClr val="1C1C1C"/>
          </a:solidFill>
          <a:ln w="9525">
            <a:solidFill>
              <a:srgbClr val="B8860B"/>
            </a:solidFill>
            <a:prstDash val="solid"/>
          </a:ln>
        </p:spPr>
      </p:sp>
      <p:sp>
        <p:nvSpPr>
          <p:cNvPr id="12" name="Shape 10"/>
          <p:cNvSpPr/>
          <p:nvPr/>
        </p:nvSpPr>
        <p:spPr>
          <a:xfrm>
            <a:off x="6126480" y="1965960"/>
            <a:ext cx="73152" cy="2057400"/>
          </a:xfrm>
          <a:prstGeom prst="rect">
            <a:avLst/>
          </a:prstGeom>
          <a:solidFill>
            <a:srgbClr val="D4A437"/>
          </a:solidFill>
          <a:ln w="12700">
            <a:solidFill>
              <a:srgbClr val="D4A437"/>
            </a:solidFill>
            <a:prstDash val="solid"/>
          </a:ln>
        </p:spPr>
      </p:sp>
      <p:sp>
        <p:nvSpPr>
          <p:cNvPr id="13" name="Text 11"/>
          <p:cNvSpPr/>
          <p:nvPr/>
        </p:nvSpPr>
        <p:spPr>
          <a:xfrm>
            <a:off x="6400800" y="2148840"/>
            <a:ext cx="5074920" cy="320040"/>
          </a:xfrm>
          <a:prstGeom prst="rect">
            <a:avLst/>
          </a:prstGeom>
          <a:noFill/>
          <a:ln/>
        </p:spPr>
        <p:txBody>
          <a:bodyPr wrap="square" lIns="0" tIns="0" rIns="0" bIns="0" rtlCol="0" anchor="ctr"/>
          <a:lstStyle/>
          <a:p>
            <a:pPr algn="l" indent="0" marL="0">
              <a:buNone/>
            </a:pPr>
            <a:r>
              <a:rPr lang="en-US" sz="1100" spc="300" kern="0" dirty="0">
                <a:solidFill>
                  <a:srgbClr val="D4A437"/>
                </a:solidFill>
                <a:latin typeface="Georgia" pitchFamily="34" charset="0"/>
                <a:ea typeface="Georgia" pitchFamily="34" charset="-122"/>
                <a:cs typeface="Georgia" pitchFamily="34" charset="-120"/>
              </a:rPr>
              <a:t>2 Timothy 2:2</a:t>
            </a:r>
            <a:endParaRPr lang="en-US" sz="1100" dirty="0"/>
          </a:p>
        </p:txBody>
      </p:sp>
      <p:sp>
        <p:nvSpPr>
          <p:cNvPr id="14" name="Text 12"/>
          <p:cNvSpPr/>
          <p:nvPr/>
        </p:nvSpPr>
        <p:spPr>
          <a:xfrm>
            <a:off x="6400800" y="2468880"/>
            <a:ext cx="5074920" cy="457200"/>
          </a:xfrm>
          <a:prstGeom prst="rect">
            <a:avLst/>
          </a:prstGeom>
          <a:noFill/>
          <a:ln/>
        </p:spPr>
        <p:txBody>
          <a:bodyPr wrap="square" lIns="0" tIns="0" rIns="0" bIns="0" rtlCol="0" anchor="ctr"/>
          <a:lstStyle/>
          <a:p>
            <a:pPr algn="l" indent="0" marL="0">
              <a:buNone/>
            </a:pPr>
            <a:r>
              <a:rPr lang="en-US" sz="1800" b="1" dirty="0">
                <a:solidFill>
                  <a:srgbClr val="E8C97A"/>
                </a:solidFill>
                <a:latin typeface="Georgia" pitchFamily="34" charset="0"/>
                <a:ea typeface="Georgia" pitchFamily="34" charset="-122"/>
                <a:cs typeface="Georgia" pitchFamily="34" charset="-120"/>
              </a:rPr>
              <a:t>FAITHFUL MEN</a:t>
            </a:r>
            <a:endParaRPr lang="en-US" sz="1800" dirty="0"/>
          </a:p>
        </p:txBody>
      </p:sp>
      <p:sp>
        <p:nvSpPr>
          <p:cNvPr id="15" name="Text 13"/>
          <p:cNvSpPr/>
          <p:nvPr/>
        </p:nvSpPr>
        <p:spPr>
          <a:xfrm>
            <a:off x="6400800" y="2971800"/>
            <a:ext cx="5074920" cy="960120"/>
          </a:xfrm>
          <a:prstGeom prst="rect">
            <a:avLst/>
          </a:prstGeom>
          <a:noFill/>
          <a:ln/>
        </p:spPr>
        <p:txBody>
          <a:bodyPr wrap="square" lIns="0" tIns="0" rIns="0" bIns="0" rtlCol="0" anchor="t"/>
          <a:lstStyle/>
          <a:p>
            <a:pPr algn="l" indent="0" marL="0">
              <a:lnSpc>
                <a:spcPts val="2000"/>
              </a:lnSpc>
              <a:buNone/>
            </a:pPr>
            <a:r>
              <a:rPr lang="en-US" sz="1300" dirty="0">
                <a:solidFill>
                  <a:srgbClr val="EDE6CC"/>
                </a:solidFill>
                <a:latin typeface="Calibri" pitchFamily="34" charset="0"/>
                <a:ea typeface="Calibri" pitchFamily="34" charset="-122"/>
                <a:cs typeface="Calibri" pitchFamily="34" charset="-120"/>
              </a:rPr>
              <a:t>“Commit the things you have heard… to faithful men who will be able to teach others also.” The early-adopter pattern as apostolic strategy.</a:t>
            </a:r>
            <a:endParaRPr lang="en-US" sz="1300" dirty="0"/>
          </a:p>
        </p:txBody>
      </p:sp>
      <p:sp>
        <p:nvSpPr>
          <p:cNvPr id="16" name="Shape 14"/>
          <p:cNvSpPr/>
          <p:nvPr/>
        </p:nvSpPr>
        <p:spPr>
          <a:xfrm>
            <a:off x="457200" y="4251960"/>
            <a:ext cx="5440680" cy="2057400"/>
          </a:xfrm>
          <a:prstGeom prst="rect">
            <a:avLst/>
          </a:prstGeom>
          <a:solidFill>
            <a:srgbClr val="1C1C1C"/>
          </a:solidFill>
          <a:ln w="9525">
            <a:solidFill>
              <a:srgbClr val="B8860B"/>
            </a:solidFill>
            <a:prstDash val="solid"/>
          </a:ln>
        </p:spPr>
      </p:sp>
      <p:sp>
        <p:nvSpPr>
          <p:cNvPr id="17" name="Shape 15"/>
          <p:cNvSpPr/>
          <p:nvPr/>
        </p:nvSpPr>
        <p:spPr>
          <a:xfrm>
            <a:off x="457200" y="4251960"/>
            <a:ext cx="73152" cy="2057400"/>
          </a:xfrm>
          <a:prstGeom prst="rect">
            <a:avLst/>
          </a:prstGeom>
          <a:solidFill>
            <a:srgbClr val="D4A437"/>
          </a:solidFill>
          <a:ln w="12700">
            <a:solidFill>
              <a:srgbClr val="D4A437"/>
            </a:solidFill>
            <a:prstDash val="solid"/>
          </a:ln>
        </p:spPr>
      </p:sp>
      <p:sp>
        <p:nvSpPr>
          <p:cNvPr id="18" name="Text 16"/>
          <p:cNvSpPr/>
          <p:nvPr/>
        </p:nvSpPr>
        <p:spPr>
          <a:xfrm>
            <a:off x="731520" y="4434840"/>
            <a:ext cx="5074920" cy="320040"/>
          </a:xfrm>
          <a:prstGeom prst="rect">
            <a:avLst/>
          </a:prstGeom>
          <a:noFill/>
          <a:ln/>
        </p:spPr>
        <p:txBody>
          <a:bodyPr wrap="square" lIns="0" tIns="0" rIns="0" bIns="0" rtlCol="0" anchor="ctr"/>
          <a:lstStyle/>
          <a:p>
            <a:pPr algn="l" indent="0" marL="0">
              <a:buNone/>
            </a:pPr>
            <a:r>
              <a:rPr lang="en-US" sz="1100" spc="300" kern="0" dirty="0">
                <a:solidFill>
                  <a:srgbClr val="D4A437"/>
                </a:solidFill>
                <a:latin typeface="Georgia" pitchFamily="34" charset="0"/>
                <a:ea typeface="Georgia" pitchFamily="34" charset="-122"/>
                <a:cs typeface="Georgia" pitchFamily="34" charset="-120"/>
              </a:rPr>
              <a:t>Luke 10:5–11</a:t>
            </a:r>
            <a:endParaRPr lang="en-US" sz="1100" dirty="0"/>
          </a:p>
        </p:txBody>
      </p:sp>
      <p:sp>
        <p:nvSpPr>
          <p:cNvPr id="19" name="Text 17"/>
          <p:cNvSpPr/>
          <p:nvPr/>
        </p:nvSpPr>
        <p:spPr>
          <a:xfrm>
            <a:off x="731520" y="4754880"/>
            <a:ext cx="5074920" cy="457200"/>
          </a:xfrm>
          <a:prstGeom prst="rect">
            <a:avLst/>
          </a:prstGeom>
          <a:noFill/>
          <a:ln/>
        </p:spPr>
        <p:txBody>
          <a:bodyPr wrap="square" lIns="0" tIns="0" rIns="0" bIns="0" rtlCol="0" anchor="ctr"/>
          <a:lstStyle/>
          <a:p>
            <a:pPr algn="l" indent="0" marL="0">
              <a:buNone/>
            </a:pPr>
            <a:r>
              <a:rPr lang="en-US" sz="1800" b="1" dirty="0">
                <a:solidFill>
                  <a:srgbClr val="E8C97A"/>
                </a:solidFill>
                <a:latin typeface="Georgia" pitchFamily="34" charset="0"/>
                <a:ea typeface="Georgia" pitchFamily="34" charset="-122"/>
                <a:cs typeface="Georgia" pitchFamily="34" charset="-120"/>
              </a:rPr>
              <a:t>SON OF PEACE</a:t>
            </a:r>
            <a:endParaRPr lang="en-US" sz="1800" dirty="0"/>
          </a:p>
        </p:txBody>
      </p:sp>
      <p:sp>
        <p:nvSpPr>
          <p:cNvPr id="20" name="Text 18"/>
          <p:cNvSpPr/>
          <p:nvPr/>
        </p:nvSpPr>
        <p:spPr>
          <a:xfrm>
            <a:off x="731520" y="5257800"/>
            <a:ext cx="5074920" cy="960120"/>
          </a:xfrm>
          <a:prstGeom prst="rect">
            <a:avLst/>
          </a:prstGeom>
          <a:noFill/>
          <a:ln/>
        </p:spPr>
        <p:txBody>
          <a:bodyPr wrap="square" lIns="0" tIns="0" rIns="0" bIns="0" rtlCol="0" anchor="t"/>
          <a:lstStyle/>
          <a:p>
            <a:pPr algn="l" indent="0" marL="0">
              <a:lnSpc>
                <a:spcPts val="2000"/>
              </a:lnSpc>
              <a:buNone/>
            </a:pPr>
            <a:r>
              <a:rPr lang="en-US" sz="1300" dirty="0">
                <a:solidFill>
                  <a:srgbClr val="EDE6CC"/>
                </a:solidFill>
                <a:latin typeface="Calibri" pitchFamily="34" charset="0"/>
                <a:ea typeface="Calibri" pitchFamily="34" charset="-122"/>
                <a:cs typeface="Calibri" pitchFamily="34" charset="-120"/>
              </a:rPr>
              <a:t>Find the receptive house. Where rejected, shake off the dust and move on. A diffusion filter, not a rejection of the lost.</a:t>
            </a:r>
            <a:endParaRPr lang="en-US" sz="1300" dirty="0"/>
          </a:p>
        </p:txBody>
      </p:sp>
      <p:sp>
        <p:nvSpPr>
          <p:cNvPr id="21" name="Shape 19"/>
          <p:cNvSpPr/>
          <p:nvPr/>
        </p:nvSpPr>
        <p:spPr>
          <a:xfrm>
            <a:off x="6126480" y="4251960"/>
            <a:ext cx="5440680" cy="2057400"/>
          </a:xfrm>
          <a:prstGeom prst="rect">
            <a:avLst/>
          </a:prstGeom>
          <a:solidFill>
            <a:srgbClr val="1C1C1C"/>
          </a:solidFill>
          <a:ln w="9525">
            <a:solidFill>
              <a:srgbClr val="B8860B"/>
            </a:solidFill>
            <a:prstDash val="solid"/>
          </a:ln>
        </p:spPr>
      </p:sp>
      <p:sp>
        <p:nvSpPr>
          <p:cNvPr id="22" name="Shape 20"/>
          <p:cNvSpPr/>
          <p:nvPr/>
        </p:nvSpPr>
        <p:spPr>
          <a:xfrm>
            <a:off x="6126480" y="4251960"/>
            <a:ext cx="73152" cy="2057400"/>
          </a:xfrm>
          <a:prstGeom prst="rect">
            <a:avLst/>
          </a:prstGeom>
          <a:solidFill>
            <a:srgbClr val="D4A437"/>
          </a:solidFill>
          <a:ln w="12700">
            <a:solidFill>
              <a:srgbClr val="D4A437"/>
            </a:solidFill>
            <a:prstDash val="solid"/>
          </a:ln>
        </p:spPr>
      </p:sp>
      <p:sp>
        <p:nvSpPr>
          <p:cNvPr id="23" name="Text 21"/>
          <p:cNvSpPr/>
          <p:nvPr/>
        </p:nvSpPr>
        <p:spPr>
          <a:xfrm>
            <a:off x="6400800" y="4434840"/>
            <a:ext cx="5074920" cy="320040"/>
          </a:xfrm>
          <a:prstGeom prst="rect">
            <a:avLst/>
          </a:prstGeom>
          <a:noFill/>
          <a:ln/>
        </p:spPr>
        <p:txBody>
          <a:bodyPr wrap="square" lIns="0" tIns="0" rIns="0" bIns="0" rtlCol="0" anchor="ctr"/>
          <a:lstStyle/>
          <a:p>
            <a:pPr algn="l" indent="0" marL="0">
              <a:buNone/>
            </a:pPr>
            <a:r>
              <a:rPr lang="en-US" sz="1100" spc="300" kern="0" dirty="0">
                <a:solidFill>
                  <a:srgbClr val="D4A437"/>
                </a:solidFill>
                <a:latin typeface="Georgia" pitchFamily="34" charset="0"/>
                <a:ea typeface="Georgia" pitchFamily="34" charset="-122"/>
                <a:cs typeface="Georgia" pitchFamily="34" charset="-120"/>
              </a:rPr>
              <a:t>Matthew 7:6 · Acts 13:46</a:t>
            </a:r>
            <a:endParaRPr lang="en-US" sz="1100" dirty="0"/>
          </a:p>
        </p:txBody>
      </p:sp>
      <p:sp>
        <p:nvSpPr>
          <p:cNvPr id="24" name="Text 22"/>
          <p:cNvSpPr/>
          <p:nvPr/>
        </p:nvSpPr>
        <p:spPr>
          <a:xfrm>
            <a:off x="6400800" y="4754880"/>
            <a:ext cx="5074920" cy="457200"/>
          </a:xfrm>
          <a:prstGeom prst="rect">
            <a:avLst/>
          </a:prstGeom>
          <a:noFill/>
          <a:ln/>
        </p:spPr>
        <p:txBody>
          <a:bodyPr wrap="square" lIns="0" tIns="0" rIns="0" bIns="0" rtlCol="0" anchor="ctr"/>
          <a:lstStyle/>
          <a:p>
            <a:pPr algn="l" indent="0" marL="0">
              <a:buNone/>
            </a:pPr>
            <a:r>
              <a:rPr lang="en-US" sz="1800" b="1" dirty="0">
                <a:solidFill>
                  <a:srgbClr val="E8C97A"/>
                </a:solidFill>
                <a:latin typeface="Georgia" pitchFamily="34" charset="0"/>
                <a:ea typeface="Georgia" pitchFamily="34" charset="-122"/>
                <a:cs typeface="Georgia" pitchFamily="34" charset="-120"/>
              </a:rPr>
              <a:t>SOIL DISCERNMENT</a:t>
            </a:r>
            <a:endParaRPr lang="en-US" sz="1800" dirty="0"/>
          </a:p>
        </p:txBody>
      </p:sp>
      <p:sp>
        <p:nvSpPr>
          <p:cNvPr id="25" name="Text 23"/>
          <p:cNvSpPr/>
          <p:nvPr/>
        </p:nvSpPr>
        <p:spPr>
          <a:xfrm>
            <a:off x="6400800" y="5257800"/>
            <a:ext cx="5074920" cy="960120"/>
          </a:xfrm>
          <a:prstGeom prst="rect">
            <a:avLst/>
          </a:prstGeom>
          <a:noFill/>
          <a:ln/>
        </p:spPr>
        <p:txBody>
          <a:bodyPr wrap="square" lIns="0" tIns="0" rIns="0" bIns="0" rtlCol="0" anchor="t"/>
          <a:lstStyle/>
          <a:p>
            <a:pPr algn="l" indent="0" marL="0">
              <a:lnSpc>
                <a:spcPts val="2000"/>
              </a:lnSpc>
              <a:buNone/>
            </a:pPr>
            <a:r>
              <a:rPr lang="en-US" sz="1300" dirty="0">
                <a:solidFill>
                  <a:srgbClr val="EDE6CC"/>
                </a:solidFill>
                <a:latin typeface="Calibri" pitchFamily="34" charset="0"/>
                <a:ea typeface="Calibri" pitchFamily="34" charset="-122"/>
                <a:cs typeface="Calibri" pitchFamily="34" charset="-120"/>
              </a:rPr>
              <a:t>Pearls before swine; Paul turning to receptive Gentiles. Evangelism universal. Discipleship selective.</a:t>
            </a:r>
            <a:endParaRPr lang="en-US" sz="1300" dirty="0"/>
          </a:p>
        </p:txBody>
      </p:sp>
      <p:sp>
        <p:nvSpPr>
          <p:cNvPr id="26" name="Shape 24"/>
          <p:cNvSpPr/>
          <p:nvPr/>
        </p:nvSpPr>
        <p:spPr>
          <a:xfrm>
            <a:off x="457200" y="6446520"/>
            <a:ext cx="11247120" cy="16459"/>
          </a:xfrm>
          <a:prstGeom prst="rect">
            <a:avLst/>
          </a:prstGeom>
          <a:solidFill>
            <a:srgbClr val="B8860B"/>
          </a:solidFill>
          <a:ln w="12700">
            <a:solidFill>
              <a:srgbClr val="B8860B"/>
            </a:solidFill>
            <a:prstDash val="solid"/>
          </a:ln>
        </p:spPr>
      </p:sp>
      <p:sp>
        <p:nvSpPr>
          <p:cNvPr id="27" name="Text 25"/>
          <p:cNvSpPr/>
          <p:nvPr/>
        </p:nvSpPr>
        <p:spPr>
          <a:xfrm>
            <a:off x="457200" y="6510528"/>
            <a:ext cx="8229600" cy="274320"/>
          </a:xfrm>
          <a:prstGeom prst="rect">
            <a:avLst/>
          </a:prstGeom>
          <a:noFill/>
          <a:ln/>
        </p:spPr>
        <p:txBody>
          <a:bodyPr wrap="square" lIns="0" tIns="0" rIns="0" bIns="0" rtlCol="0" anchor="t"/>
          <a:lstStyle/>
          <a:p>
            <a:pPr algn="l" indent="0" marL="0">
              <a:buNone/>
            </a:pPr>
            <a:r>
              <a:rPr lang="en-US" sz="1000" dirty="0">
                <a:solidFill>
                  <a:srgbClr val="E8C97A"/>
                </a:solidFill>
                <a:latin typeface="Georgia" pitchFamily="34" charset="0"/>
                <a:ea typeface="Georgia" pitchFamily="34" charset="-122"/>
                <a:cs typeface="Georgia" pitchFamily="34" charset="-120"/>
              </a:rPr>
              <a:t>usmcmin.org</a:t>
            </a:r>
            <a:pPr algn="l" indent="0" marL="0">
              <a:buNone/>
            </a:pPr>
            <a:r>
              <a:rPr lang="en-US" sz="1000" dirty="0">
                <a:solidFill>
                  <a:srgbClr val="9F9580"/>
                </a:solidFill>
                <a:latin typeface="Georgia" pitchFamily="34" charset="0"/>
                <a:ea typeface="Georgia" pitchFamily="34" charset="-122"/>
                <a:cs typeface="Georgia" pitchFamily="34" charset="-120"/>
              </a:rPr>
              <a:t>  ·  </a:t>
            </a:r>
            <a:pPr algn="l" indent="0" marL="0">
              <a:buNone/>
            </a:pPr>
            <a:r>
              <a:rPr lang="en-US" sz="1000" i="1" dirty="0">
                <a:solidFill>
                  <a:srgbClr val="9F9580"/>
                </a:solidFill>
                <a:latin typeface="Georgia" pitchFamily="34" charset="0"/>
                <a:ea typeface="Georgia" pitchFamily="34" charset="-122"/>
                <a:cs typeface="Georgia" pitchFamily="34" charset="-120"/>
              </a:rPr>
              <a:t>“Iron sharpens iron.” — Prov. 27:17</a:t>
            </a:r>
            <a:endParaRPr lang="en-US" sz="1000" dirty="0"/>
          </a:p>
        </p:txBody>
      </p:sp>
      <p:sp>
        <p:nvSpPr>
          <p:cNvPr id="28" name="Text 26"/>
          <p:cNvSpPr/>
          <p:nvPr/>
        </p:nvSpPr>
        <p:spPr>
          <a:xfrm>
            <a:off x="10789920" y="6510528"/>
            <a:ext cx="914400" cy="274320"/>
          </a:xfrm>
          <a:prstGeom prst="rect">
            <a:avLst/>
          </a:prstGeom>
          <a:noFill/>
          <a:ln/>
        </p:spPr>
        <p:txBody>
          <a:bodyPr wrap="square" lIns="0" tIns="0" rIns="0" bIns="0" rtlCol="0" anchor="t"/>
          <a:lstStyle/>
          <a:p>
            <a:pPr algn="r" indent="0" marL="0">
              <a:buNone/>
            </a:pPr>
            <a:r>
              <a:rPr lang="en-US" sz="1000" dirty="0">
                <a:solidFill>
                  <a:srgbClr val="9F9580"/>
                </a:solidFill>
                <a:latin typeface="Georgia" pitchFamily="34" charset="0"/>
                <a:ea typeface="Georgia" pitchFamily="34" charset="-122"/>
                <a:cs typeface="Georgia" pitchFamily="34" charset="-120"/>
              </a:rPr>
              <a:t>5 / 10</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457200" y="320040"/>
            <a:ext cx="8686800" cy="640080"/>
          </a:xfrm>
          <a:prstGeom prst="rect">
            <a:avLst/>
          </a:prstGeom>
          <a:noFill/>
          <a:ln/>
        </p:spPr>
        <p:txBody>
          <a:bodyPr wrap="square" lIns="0" tIns="0" rIns="0" bIns="0" rtlCol="0" anchor="ctr"/>
          <a:lstStyle/>
          <a:p>
            <a:pPr algn="l" indent="0" marL="0">
              <a:buNone/>
            </a:pPr>
            <a:r>
              <a:rPr lang="en-US" sz="2800" b="1" spc="400" kern="0" dirty="0">
                <a:solidFill>
                  <a:srgbClr val="D4A437"/>
                </a:solidFill>
                <a:latin typeface="Georgia" pitchFamily="34" charset="0"/>
                <a:ea typeface="Georgia" pitchFamily="34" charset="-122"/>
                <a:cs typeface="Georgia" pitchFamily="34" charset="-120"/>
              </a:rPr>
              <a:t>OPERATIONAL APPLICATION</a:t>
            </a:r>
            <a:endParaRPr lang="en-US" sz="2800" dirty="0"/>
          </a:p>
        </p:txBody>
      </p:sp>
      <p:sp>
        <p:nvSpPr>
          <p:cNvPr id="3" name="Text 1"/>
          <p:cNvSpPr/>
          <p:nvPr/>
        </p:nvSpPr>
        <p:spPr>
          <a:xfrm>
            <a:off x="9144000" y="320040"/>
            <a:ext cx="2560320" cy="365760"/>
          </a:xfrm>
          <a:prstGeom prst="rect">
            <a:avLst/>
          </a:prstGeom>
          <a:noFill/>
          <a:ln/>
        </p:spPr>
        <p:txBody>
          <a:bodyPr wrap="square" lIns="0" tIns="0" rIns="0" bIns="0" rtlCol="0" anchor="ctr"/>
          <a:lstStyle/>
          <a:p>
            <a:pPr algn="r" indent="0" marL="0">
              <a:buNone/>
            </a:pPr>
            <a:r>
              <a:rPr lang="en-US" sz="1100" spc="300" kern="0" dirty="0">
                <a:solidFill>
                  <a:srgbClr val="9F9580"/>
                </a:solidFill>
                <a:latin typeface="Georgia" pitchFamily="34" charset="0"/>
                <a:ea typeface="Georgia" pitchFamily="34" charset="-122"/>
                <a:cs typeface="Georgia" pitchFamily="34" charset="-120"/>
              </a:rPr>
              <a:t>U.S.M.C. MINISTRIES</a:t>
            </a:r>
            <a:endParaRPr lang="en-US" sz="1100" dirty="0"/>
          </a:p>
        </p:txBody>
      </p:sp>
      <p:sp>
        <p:nvSpPr>
          <p:cNvPr id="4" name="Shape 2"/>
          <p:cNvSpPr/>
          <p:nvPr/>
        </p:nvSpPr>
        <p:spPr>
          <a:xfrm>
            <a:off x="457200" y="1005840"/>
            <a:ext cx="11247120" cy="22860"/>
          </a:xfrm>
          <a:prstGeom prst="rect">
            <a:avLst/>
          </a:prstGeom>
          <a:solidFill>
            <a:srgbClr val="B8860B"/>
          </a:solidFill>
          <a:ln w="12700">
            <a:solidFill>
              <a:srgbClr val="B8860B"/>
            </a:solidFill>
            <a:prstDash val="solid"/>
          </a:ln>
        </p:spPr>
      </p:sp>
      <p:sp>
        <p:nvSpPr>
          <p:cNvPr id="5" name="Text 3"/>
          <p:cNvSpPr/>
          <p:nvPr/>
        </p:nvSpPr>
        <p:spPr>
          <a:xfrm>
            <a:off x="457200" y="1188720"/>
            <a:ext cx="11247120" cy="365760"/>
          </a:xfrm>
          <a:prstGeom prst="rect">
            <a:avLst/>
          </a:prstGeom>
          <a:noFill/>
          <a:ln/>
        </p:spPr>
        <p:txBody>
          <a:bodyPr wrap="square" lIns="0" tIns="0" rIns="0" bIns="0" rtlCol="0" anchor="ctr"/>
          <a:lstStyle/>
          <a:p>
            <a:pPr algn="l" indent="0" marL="0">
              <a:buNone/>
            </a:pPr>
            <a:r>
              <a:rPr lang="en-US" sz="1600" i="1" dirty="0">
                <a:solidFill>
                  <a:srgbClr val="E8C97A"/>
                </a:solidFill>
                <a:latin typeface="Georgia" pitchFamily="34" charset="0"/>
                <a:ea typeface="Georgia" pitchFamily="34" charset="-122"/>
                <a:cs typeface="Georgia" pitchFamily="34" charset="-120"/>
              </a:rPr>
              <a:t>Three operational shifts follow from the framework:</a:t>
            </a:r>
            <a:endParaRPr lang="en-US" sz="1600" dirty="0"/>
          </a:p>
        </p:txBody>
      </p:sp>
      <p:sp>
        <p:nvSpPr>
          <p:cNvPr id="6" name="Text 4"/>
          <p:cNvSpPr/>
          <p:nvPr/>
        </p:nvSpPr>
        <p:spPr>
          <a:xfrm>
            <a:off x="457200" y="1783080"/>
            <a:ext cx="1371600" cy="1417320"/>
          </a:xfrm>
          <a:prstGeom prst="rect">
            <a:avLst/>
          </a:prstGeom>
          <a:noFill/>
          <a:ln/>
        </p:spPr>
        <p:txBody>
          <a:bodyPr wrap="square" lIns="0" tIns="0" rIns="0" bIns="0" rtlCol="0" anchor="t"/>
          <a:lstStyle/>
          <a:p>
            <a:pPr algn="ctr" indent="0" marL="0">
              <a:buNone/>
            </a:pPr>
            <a:r>
              <a:rPr lang="en-US" sz="4800" b="1" dirty="0">
                <a:solidFill>
                  <a:srgbClr val="B8860B"/>
                </a:solidFill>
                <a:latin typeface="Georgia" pitchFamily="34" charset="0"/>
                <a:ea typeface="Georgia" pitchFamily="34" charset="-122"/>
                <a:cs typeface="Georgia" pitchFamily="34" charset="-120"/>
              </a:rPr>
              <a:t>01</a:t>
            </a:r>
            <a:endParaRPr lang="en-US" sz="4800" dirty="0"/>
          </a:p>
        </p:txBody>
      </p:sp>
      <p:sp>
        <p:nvSpPr>
          <p:cNvPr id="7" name="Shape 5"/>
          <p:cNvSpPr/>
          <p:nvPr/>
        </p:nvSpPr>
        <p:spPr>
          <a:xfrm>
            <a:off x="1828800" y="1828800"/>
            <a:ext cx="36576" cy="1325880"/>
          </a:xfrm>
          <a:prstGeom prst="rect">
            <a:avLst/>
          </a:prstGeom>
          <a:solidFill>
            <a:srgbClr val="D4A437"/>
          </a:solidFill>
          <a:ln w="12700">
            <a:solidFill>
              <a:srgbClr val="D4A437"/>
            </a:solidFill>
            <a:prstDash val="solid"/>
          </a:ln>
        </p:spPr>
      </p:sp>
      <p:sp>
        <p:nvSpPr>
          <p:cNvPr id="8" name="Text 6"/>
          <p:cNvSpPr/>
          <p:nvPr/>
        </p:nvSpPr>
        <p:spPr>
          <a:xfrm>
            <a:off x="2011680" y="1783080"/>
            <a:ext cx="9601200" cy="502920"/>
          </a:xfrm>
          <a:prstGeom prst="rect">
            <a:avLst/>
          </a:prstGeom>
          <a:noFill/>
          <a:ln/>
        </p:spPr>
        <p:txBody>
          <a:bodyPr wrap="square" lIns="0" tIns="0" rIns="0" bIns="0" rtlCol="0" anchor="t"/>
          <a:lstStyle/>
          <a:p>
            <a:pPr algn="l" indent="0" marL="0">
              <a:buNone/>
            </a:pPr>
            <a:r>
              <a:rPr lang="en-US" sz="1900" b="1" dirty="0">
                <a:solidFill>
                  <a:srgbClr val="E8C97A"/>
                </a:solidFill>
                <a:latin typeface="Georgia" pitchFamily="34" charset="0"/>
                <a:ea typeface="Georgia" pitchFamily="34" charset="-122"/>
                <a:cs typeface="Georgia" pitchFamily="34" charset="-120"/>
              </a:rPr>
              <a:t>Design for the ~15% first.</a:t>
            </a:r>
            <a:endParaRPr lang="en-US" sz="1900" dirty="0"/>
          </a:p>
        </p:txBody>
      </p:sp>
      <p:sp>
        <p:nvSpPr>
          <p:cNvPr id="9" name="Text 7"/>
          <p:cNvSpPr/>
          <p:nvPr/>
        </p:nvSpPr>
        <p:spPr>
          <a:xfrm>
            <a:off x="2011680" y="2286000"/>
            <a:ext cx="9601200" cy="914400"/>
          </a:xfrm>
          <a:prstGeom prst="rect">
            <a:avLst/>
          </a:prstGeom>
          <a:noFill/>
          <a:ln/>
        </p:spPr>
        <p:txBody>
          <a:bodyPr wrap="square" lIns="0" tIns="0" rIns="0" bIns="0" rtlCol="0" anchor="t"/>
          <a:lstStyle/>
          <a:p>
            <a:pPr algn="l" indent="0" marL="0">
              <a:lnSpc>
                <a:spcPts val="1900"/>
              </a:lnSpc>
              <a:buNone/>
            </a:pPr>
            <a:r>
              <a:rPr lang="en-US" sz="1300" dirty="0">
                <a:solidFill>
                  <a:srgbClr val="EDE6CC"/>
                </a:solidFill>
                <a:latin typeface="Calibri" pitchFamily="34" charset="0"/>
                <a:ea typeface="Calibri" pitchFamily="34" charset="-122"/>
                <a:cs typeface="Calibri" pitchFamily="34" charset="-120"/>
              </a:rPr>
              <a:t>Programs like the Spotswood Men’s Freedom Group, Forsaking All Others, and Proven Men cohorts are calibrated to the innovators and early adopters who are already hungry. Filter language (“for the man who knows he needs to fight”) lets the wrong men self-exclude—which is the point.</a:t>
            </a:r>
            <a:endParaRPr lang="en-US" sz="1300" dirty="0"/>
          </a:p>
        </p:txBody>
      </p:sp>
      <p:sp>
        <p:nvSpPr>
          <p:cNvPr id="10" name="Text 8"/>
          <p:cNvSpPr/>
          <p:nvPr/>
        </p:nvSpPr>
        <p:spPr>
          <a:xfrm>
            <a:off x="457200" y="3291840"/>
            <a:ext cx="1371600" cy="1417320"/>
          </a:xfrm>
          <a:prstGeom prst="rect">
            <a:avLst/>
          </a:prstGeom>
          <a:noFill/>
          <a:ln/>
        </p:spPr>
        <p:txBody>
          <a:bodyPr wrap="square" lIns="0" tIns="0" rIns="0" bIns="0" rtlCol="0" anchor="t"/>
          <a:lstStyle/>
          <a:p>
            <a:pPr algn="ctr" indent="0" marL="0">
              <a:buNone/>
            </a:pPr>
            <a:r>
              <a:rPr lang="en-US" sz="4800" b="1" dirty="0">
                <a:solidFill>
                  <a:srgbClr val="B8860B"/>
                </a:solidFill>
                <a:latin typeface="Georgia" pitchFamily="34" charset="0"/>
                <a:ea typeface="Georgia" pitchFamily="34" charset="-122"/>
                <a:cs typeface="Georgia" pitchFamily="34" charset="-120"/>
              </a:rPr>
              <a:t>02</a:t>
            </a:r>
            <a:endParaRPr lang="en-US" sz="4800" dirty="0"/>
          </a:p>
        </p:txBody>
      </p:sp>
      <p:sp>
        <p:nvSpPr>
          <p:cNvPr id="11" name="Shape 9"/>
          <p:cNvSpPr/>
          <p:nvPr/>
        </p:nvSpPr>
        <p:spPr>
          <a:xfrm>
            <a:off x="1828800" y="3337560"/>
            <a:ext cx="36576" cy="1325880"/>
          </a:xfrm>
          <a:prstGeom prst="rect">
            <a:avLst/>
          </a:prstGeom>
          <a:solidFill>
            <a:srgbClr val="D4A437"/>
          </a:solidFill>
          <a:ln w="12700">
            <a:solidFill>
              <a:srgbClr val="D4A437"/>
            </a:solidFill>
            <a:prstDash val="solid"/>
          </a:ln>
        </p:spPr>
      </p:sp>
      <p:sp>
        <p:nvSpPr>
          <p:cNvPr id="12" name="Text 10"/>
          <p:cNvSpPr/>
          <p:nvPr/>
        </p:nvSpPr>
        <p:spPr>
          <a:xfrm>
            <a:off x="2011680" y="3291840"/>
            <a:ext cx="9601200" cy="502920"/>
          </a:xfrm>
          <a:prstGeom prst="rect">
            <a:avLst/>
          </a:prstGeom>
          <a:noFill/>
          <a:ln/>
        </p:spPr>
        <p:txBody>
          <a:bodyPr wrap="square" lIns="0" tIns="0" rIns="0" bIns="0" rtlCol="0" anchor="t"/>
          <a:lstStyle/>
          <a:p>
            <a:pPr algn="l" indent="0" marL="0">
              <a:buNone/>
            </a:pPr>
            <a:r>
              <a:rPr lang="en-US" sz="1900" b="1" dirty="0">
                <a:solidFill>
                  <a:srgbClr val="E8C97A"/>
                </a:solidFill>
                <a:latin typeface="Georgia" pitchFamily="34" charset="0"/>
                <a:ea typeface="Georgia" pitchFamily="34" charset="-122"/>
                <a:cs typeface="Georgia" pitchFamily="34" charset="-120"/>
              </a:rPr>
              <a:t>Measure multipliers, not enrollment.</a:t>
            </a:r>
            <a:endParaRPr lang="en-US" sz="1900" dirty="0"/>
          </a:p>
        </p:txBody>
      </p:sp>
      <p:sp>
        <p:nvSpPr>
          <p:cNvPr id="13" name="Text 11"/>
          <p:cNvSpPr/>
          <p:nvPr/>
        </p:nvSpPr>
        <p:spPr>
          <a:xfrm>
            <a:off x="2011680" y="3794760"/>
            <a:ext cx="9601200" cy="914400"/>
          </a:xfrm>
          <a:prstGeom prst="rect">
            <a:avLst/>
          </a:prstGeom>
          <a:noFill/>
          <a:ln/>
        </p:spPr>
        <p:txBody>
          <a:bodyPr wrap="square" lIns="0" tIns="0" rIns="0" bIns="0" rtlCol="0" anchor="t"/>
          <a:lstStyle/>
          <a:p>
            <a:pPr algn="l" indent="0" marL="0">
              <a:lnSpc>
                <a:spcPts val="1900"/>
              </a:lnSpc>
              <a:buNone/>
            </a:pPr>
            <a:r>
              <a:rPr lang="en-US" sz="1300" dirty="0">
                <a:solidFill>
                  <a:srgbClr val="EDE6CC"/>
                </a:solidFill>
                <a:latin typeface="Calibri" pitchFamily="34" charset="0"/>
                <a:ea typeface="Calibri" pitchFamily="34" charset="-122"/>
                <a:cs typeface="Calibri" pitchFamily="34" charset="-120"/>
              </a:rPr>
              <a:t>A first cohort’s success is the men it equips to lead the next cohort. Volume metrics seduce ministries into softening the edge. The right KPI is faithful men reproducing faithful men—the 2 Timothy 2:2 chain.</a:t>
            </a:r>
            <a:endParaRPr lang="en-US" sz="1300" dirty="0"/>
          </a:p>
        </p:txBody>
      </p:sp>
      <p:sp>
        <p:nvSpPr>
          <p:cNvPr id="14" name="Text 12"/>
          <p:cNvSpPr/>
          <p:nvPr/>
        </p:nvSpPr>
        <p:spPr>
          <a:xfrm>
            <a:off x="457200" y="4800600"/>
            <a:ext cx="1371600" cy="1417320"/>
          </a:xfrm>
          <a:prstGeom prst="rect">
            <a:avLst/>
          </a:prstGeom>
          <a:noFill/>
          <a:ln/>
        </p:spPr>
        <p:txBody>
          <a:bodyPr wrap="square" lIns="0" tIns="0" rIns="0" bIns="0" rtlCol="0" anchor="t"/>
          <a:lstStyle/>
          <a:p>
            <a:pPr algn="ctr" indent="0" marL="0">
              <a:buNone/>
            </a:pPr>
            <a:r>
              <a:rPr lang="en-US" sz="4800" b="1" dirty="0">
                <a:solidFill>
                  <a:srgbClr val="B8860B"/>
                </a:solidFill>
                <a:latin typeface="Georgia" pitchFamily="34" charset="0"/>
                <a:ea typeface="Georgia" pitchFamily="34" charset="-122"/>
                <a:cs typeface="Georgia" pitchFamily="34" charset="-120"/>
              </a:rPr>
              <a:t>03</a:t>
            </a:r>
            <a:endParaRPr lang="en-US" sz="4800" dirty="0"/>
          </a:p>
        </p:txBody>
      </p:sp>
      <p:sp>
        <p:nvSpPr>
          <p:cNvPr id="15" name="Shape 13"/>
          <p:cNvSpPr/>
          <p:nvPr/>
        </p:nvSpPr>
        <p:spPr>
          <a:xfrm>
            <a:off x="1828800" y="4846320"/>
            <a:ext cx="36576" cy="1325880"/>
          </a:xfrm>
          <a:prstGeom prst="rect">
            <a:avLst/>
          </a:prstGeom>
          <a:solidFill>
            <a:srgbClr val="D4A437"/>
          </a:solidFill>
          <a:ln w="12700">
            <a:solidFill>
              <a:srgbClr val="D4A437"/>
            </a:solidFill>
            <a:prstDash val="solid"/>
          </a:ln>
        </p:spPr>
      </p:sp>
      <p:sp>
        <p:nvSpPr>
          <p:cNvPr id="16" name="Text 14"/>
          <p:cNvSpPr/>
          <p:nvPr/>
        </p:nvSpPr>
        <p:spPr>
          <a:xfrm>
            <a:off x="2011680" y="4800600"/>
            <a:ext cx="9601200" cy="502920"/>
          </a:xfrm>
          <a:prstGeom prst="rect">
            <a:avLst/>
          </a:prstGeom>
          <a:noFill/>
          <a:ln/>
        </p:spPr>
        <p:txBody>
          <a:bodyPr wrap="square" lIns="0" tIns="0" rIns="0" bIns="0" rtlCol="0" anchor="t"/>
          <a:lstStyle/>
          <a:p>
            <a:pPr algn="l" indent="0" marL="0">
              <a:buNone/>
            </a:pPr>
            <a:r>
              <a:rPr lang="en-US" sz="1900" b="1" dirty="0">
                <a:solidFill>
                  <a:srgbClr val="E8C97A"/>
                </a:solidFill>
                <a:latin typeface="Georgia" pitchFamily="34" charset="0"/>
                <a:ea typeface="Georgia" pitchFamily="34" charset="-122"/>
                <a:cs typeface="Georgia" pitchFamily="34" charset="-120"/>
              </a:rPr>
              <a:t>Evangelism universal. Discipleship selective.</a:t>
            </a:r>
            <a:endParaRPr lang="en-US" sz="1900" dirty="0"/>
          </a:p>
        </p:txBody>
      </p:sp>
      <p:sp>
        <p:nvSpPr>
          <p:cNvPr id="17" name="Text 15"/>
          <p:cNvSpPr/>
          <p:nvPr/>
        </p:nvSpPr>
        <p:spPr>
          <a:xfrm>
            <a:off x="2011680" y="5303520"/>
            <a:ext cx="9601200" cy="914400"/>
          </a:xfrm>
          <a:prstGeom prst="rect">
            <a:avLst/>
          </a:prstGeom>
          <a:noFill/>
          <a:ln/>
        </p:spPr>
        <p:txBody>
          <a:bodyPr wrap="square" lIns="0" tIns="0" rIns="0" bIns="0" rtlCol="0" anchor="t"/>
          <a:lstStyle/>
          <a:p>
            <a:pPr algn="l" indent="0" marL="0">
              <a:lnSpc>
                <a:spcPts val="1900"/>
              </a:lnSpc>
              <a:buNone/>
            </a:pPr>
            <a:r>
              <a:rPr lang="en-US" sz="1300" dirty="0">
                <a:solidFill>
                  <a:srgbClr val="EDE6CC"/>
                </a:solidFill>
                <a:latin typeface="Calibri" pitchFamily="34" charset="0"/>
                <a:ea typeface="Calibri" pitchFamily="34" charset="-122"/>
                <a:cs typeface="Calibri" pitchFamily="34" charset="-120"/>
              </a:rPr>
              <a:t>The pulpit is open to every man. The 12-week intensive is not. This is not elitism—it is stewardship of finite hours and Spirit-led timing. The laggard at 35 may be the innovator at 50.</a:t>
            </a:r>
            <a:endParaRPr lang="en-US" sz="1300" dirty="0"/>
          </a:p>
        </p:txBody>
      </p:sp>
      <p:sp>
        <p:nvSpPr>
          <p:cNvPr id="18" name="Shape 16"/>
          <p:cNvSpPr/>
          <p:nvPr/>
        </p:nvSpPr>
        <p:spPr>
          <a:xfrm>
            <a:off x="457200" y="6446520"/>
            <a:ext cx="11247120" cy="16459"/>
          </a:xfrm>
          <a:prstGeom prst="rect">
            <a:avLst/>
          </a:prstGeom>
          <a:solidFill>
            <a:srgbClr val="B8860B"/>
          </a:solidFill>
          <a:ln w="12700">
            <a:solidFill>
              <a:srgbClr val="B8860B"/>
            </a:solidFill>
            <a:prstDash val="solid"/>
          </a:ln>
        </p:spPr>
      </p:sp>
      <p:sp>
        <p:nvSpPr>
          <p:cNvPr id="19" name="Text 17"/>
          <p:cNvSpPr/>
          <p:nvPr/>
        </p:nvSpPr>
        <p:spPr>
          <a:xfrm>
            <a:off x="457200" y="6510528"/>
            <a:ext cx="8229600" cy="274320"/>
          </a:xfrm>
          <a:prstGeom prst="rect">
            <a:avLst/>
          </a:prstGeom>
          <a:noFill/>
          <a:ln/>
        </p:spPr>
        <p:txBody>
          <a:bodyPr wrap="square" lIns="0" tIns="0" rIns="0" bIns="0" rtlCol="0" anchor="t"/>
          <a:lstStyle/>
          <a:p>
            <a:pPr algn="l" indent="0" marL="0">
              <a:buNone/>
            </a:pPr>
            <a:r>
              <a:rPr lang="en-US" sz="1000" dirty="0">
                <a:solidFill>
                  <a:srgbClr val="E8C97A"/>
                </a:solidFill>
                <a:latin typeface="Georgia" pitchFamily="34" charset="0"/>
                <a:ea typeface="Georgia" pitchFamily="34" charset="-122"/>
                <a:cs typeface="Georgia" pitchFamily="34" charset="-120"/>
              </a:rPr>
              <a:t>usmcmin.org</a:t>
            </a:r>
            <a:pPr algn="l" indent="0" marL="0">
              <a:buNone/>
            </a:pPr>
            <a:r>
              <a:rPr lang="en-US" sz="1000" dirty="0">
                <a:solidFill>
                  <a:srgbClr val="9F9580"/>
                </a:solidFill>
                <a:latin typeface="Georgia" pitchFamily="34" charset="0"/>
                <a:ea typeface="Georgia" pitchFamily="34" charset="-122"/>
                <a:cs typeface="Georgia" pitchFamily="34" charset="-120"/>
              </a:rPr>
              <a:t>  ·  </a:t>
            </a:r>
            <a:pPr algn="l" indent="0" marL="0">
              <a:buNone/>
            </a:pPr>
            <a:r>
              <a:rPr lang="en-US" sz="1000" i="1" dirty="0">
                <a:solidFill>
                  <a:srgbClr val="9F9580"/>
                </a:solidFill>
                <a:latin typeface="Georgia" pitchFamily="34" charset="0"/>
                <a:ea typeface="Georgia" pitchFamily="34" charset="-122"/>
                <a:cs typeface="Georgia" pitchFamily="34" charset="-120"/>
              </a:rPr>
              <a:t>“Iron sharpens iron.” — Prov. 27:17</a:t>
            </a:r>
            <a:endParaRPr lang="en-US" sz="1000" dirty="0"/>
          </a:p>
        </p:txBody>
      </p:sp>
      <p:sp>
        <p:nvSpPr>
          <p:cNvPr id="20" name="Text 18"/>
          <p:cNvSpPr/>
          <p:nvPr/>
        </p:nvSpPr>
        <p:spPr>
          <a:xfrm>
            <a:off x="10789920" y="6510528"/>
            <a:ext cx="914400" cy="274320"/>
          </a:xfrm>
          <a:prstGeom prst="rect">
            <a:avLst/>
          </a:prstGeom>
          <a:noFill/>
          <a:ln/>
        </p:spPr>
        <p:txBody>
          <a:bodyPr wrap="square" lIns="0" tIns="0" rIns="0" bIns="0" rtlCol="0" anchor="t"/>
          <a:lstStyle/>
          <a:p>
            <a:pPr algn="r" indent="0" marL="0">
              <a:buNone/>
            </a:pPr>
            <a:r>
              <a:rPr lang="en-US" sz="1000" dirty="0">
                <a:solidFill>
                  <a:srgbClr val="9F9580"/>
                </a:solidFill>
                <a:latin typeface="Georgia" pitchFamily="34" charset="0"/>
                <a:ea typeface="Georgia" pitchFamily="34" charset="-122"/>
                <a:cs typeface="Georgia" pitchFamily="34" charset="-120"/>
              </a:rPr>
              <a:t>6 / 10</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457200" y="320040"/>
            <a:ext cx="8686800" cy="640080"/>
          </a:xfrm>
          <a:prstGeom prst="rect">
            <a:avLst/>
          </a:prstGeom>
          <a:noFill/>
          <a:ln/>
        </p:spPr>
        <p:txBody>
          <a:bodyPr wrap="square" lIns="0" tIns="0" rIns="0" bIns="0" rtlCol="0" anchor="ctr"/>
          <a:lstStyle/>
          <a:p>
            <a:pPr algn="l" indent="0" marL="0">
              <a:buNone/>
            </a:pPr>
            <a:r>
              <a:rPr lang="en-US" sz="2800" b="1" spc="400" kern="0" dirty="0">
                <a:solidFill>
                  <a:srgbClr val="D4A437"/>
                </a:solidFill>
                <a:latin typeface="Georgia" pitchFamily="34" charset="0"/>
                <a:ea typeface="Georgia" pitchFamily="34" charset="-122"/>
                <a:cs typeface="Georgia" pitchFamily="34" charset="-120"/>
              </a:rPr>
              <a:t>THE FAMILY CAPTAIN</a:t>
            </a:r>
            <a:endParaRPr lang="en-US" sz="2800" dirty="0"/>
          </a:p>
        </p:txBody>
      </p:sp>
      <p:sp>
        <p:nvSpPr>
          <p:cNvPr id="3" name="Text 1"/>
          <p:cNvSpPr/>
          <p:nvPr/>
        </p:nvSpPr>
        <p:spPr>
          <a:xfrm>
            <a:off x="9144000" y="320040"/>
            <a:ext cx="2560320" cy="365760"/>
          </a:xfrm>
          <a:prstGeom prst="rect">
            <a:avLst/>
          </a:prstGeom>
          <a:noFill/>
          <a:ln/>
        </p:spPr>
        <p:txBody>
          <a:bodyPr wrap="square" lIns="0" tIns="0" rIns="0" bIns="0" rtlCol="0" anchor="ctr"/>
          <a:lstStyle/>
          <a:p>
            <a:pPr algn="r" indent="0" marL="0">
              <a:buNone/>
            </a:pPr>
            <a:r>
              <a:rPr lang="en-US" sz="1100" spc="300" kern="0" dirty="0">
                <a:solidFill>
                  <a:srgbClr val="9F9580"/>
                </a:solidFill>
                <a:latin typeface="Georgia" pitchFamily="34" charset="0"/>
                <a:ea typeface="Georgia" pitchFamily="34" charset="-122"/>
                <a:cs typeface="Georgia" pitchFamily="34" charset="-120"/>
              </a:rPr>
              <a:t>U.S.M.C. MINISTRIES</a:t>
            </a:r>
            <a:endParaRPr lang="en-US" sz="1100" dirty="0"/>
          </a:p>
        </p:txBody>
      </p:sp>
      <p:sp>
        <p:nvSpPr>
          <p:cNvPr id="4" name="Shape 2"/>
          <p:cNvSpPr/>
          <p:nvPr/>
        </p:nvSpPr>
        <p:spPr>
          <a:xfrm>
            <a:off x="457200" y="1005840"/>
            <a:ext cx="11247120" cy="22860"/>
          </a:xfrm>
          <a:prstGeom prst="rect">
            <a:avLst/>
          </a:prstGeom>
          <a:solidFill>
            <a:srgbClr val="B8860B"/>
          </a:solidFill>
          <a:ln w="12700">
            <a:solidFill>
              <a:srgbClr val="B8860B"/>
            </a:solidFill>
            <a:prstDash val="solid"/>
          </a:ln>
        </p:spPr>
      </p:sp>
      <p:sp>
        <p:nvSpPr>
          <p:cNvPr id="5" name="Shape 3"/>
          <p:cNvSpPr/>
          <p:nvPr/>
        </p:nvSpPr>
        <p:spPr>
          <a:xfrm>
            <a:off x="457200" y="1280160"/>
            <a:ext cx="5029200" cy="4937760"/>
          </a:xfrm>
          <a:prstGeom prst="rect">
            <a:avLst/>
          </a:prstGeom>
          <a:solidFill>
            <a:srgbClr val="1C1C1C"/>
          </a:solidFill>
          <a:ln w="9525">
            <a:solidFill>
              <a:srgbClr val="B8860B"/>
            </a:solidFill>
            <a:prstDash val="solid"/>
          </a:ln>
        </p:spPr>
      </p:sp>
      <p:sp>
        <p:nvSpPr>
          <p:cNvPr id="6" name="Shape 4"/>
          <p:cNvSpPr/>
          <p:nvPr/>
        </p:nvSpPr>
        <p:spPr>
          <a:xfrm>
            <a:off x="457200" y="1280160"/>
            <a:ext cx="91440" cy="4937760"/>
          </a:xfrm>
          <a:prstGeom prst="rect">
            <a:avLst/>
          </a:prstGeom>
          <a:solidFill>
            <a:srgbClr val="D4A437"/>
          </a:solidFill>
          <a:ln w="12700">
            <a:solidFill>
              <a:srgbClr val="D4A437"/>
            </a:solidFill>
            <a:prstDash val="solid"/>
          </a:ln>
        </p:spPr>
      </p:sp>
      <p:sp>
        <p:nvSpPr>
          <p:cNvPr id="7" name="Text 5"/>
          <p:cNvSpPr/>
          <p:nvPr/>
        </p:nvSpPr>
        <p:spPr>
          <a:xfrm>
            <a:off x="777240" y="1554480"/>
            <a:ext cx="4572000" cy="822960"/>
          </a:xfrm>
          <a:prstGeom prst="rect">
            <a:avLst/>
          </a:prstGeom>
          <a:noFill/>
          <a:ln/>
        </p:spPr>
        <p:txBody>
          <a:bodyPr wrap="square" lIns="0" tIns="0" rIns="0" bIns="0" rtlCol="0" anchor="ctr"/>
          <a:lstStyle/>
          <a:p>
            <a:pPr algn="l" indent="0" marL="0">
              <a:buNone/>
            </a:pPr>
            <a:r>
              <a:rPr lang="en-US" sz="5600" b="1" spc="800" kern="0" dirty="0">
                <a:solidFill>
                  <a:srgbClr val="D4A437"/>
                </a:solidFill>
                <a:latin typeface="Georgia" pitchFamily="34" charset="0"/>
                <a:ea typeface="Georgia" pitchFamily="34" charset="-122"/>
                <a:cs typeface="Georgia" pitchFamily="34" charset="-120"/>
              </a:rPr>
              <a:t>TACC</a:t>
            </a:r>
            <a:endParaRPr lang="en-US" sz="5600" dirty="0"/>
          </a:p>
        </p:txBody>
      </p:sp>
      <p:sp>
        <p:nvSpPr>
          <p:cNvPr id="8" name="Text 6"/>
          <p:cNvSpPr/>
          <p:nvPr/>
        </p:nvSpPr>
        <p:spPr>
          <a:xfrm>
            <a:off x="777240" y="2468880"/>
            <a:ext cx="4572000" cy="457200"/>
          </a:xfrm>
          <a:prstGeom prst="rect">
            <a:avLst/>
          </a:prstGeom>
          <a:noFill/>
          <a:ln/>
        </p:spPr>
        <p:txBody>
          <a:bodyPr wrap="square" lIns="0" tIns="0" rIns="0" bIns="0" rtlCol="0" anchor="ctr"/>
          <a:lstStyle/>
          <a:p>
            <a:pPr algn="l" indent="0" marL="0">
              <a:buNone/>
            </a:pPr>
            <a:r>
              <a:rPr lang="en-US" sz="2200" i="1" dirty="0">
                <a:solidFill>
                  <a:srgbClr val="E8C97A"/>
                </a:solidFill>
                <a:latin typeface="Georgia" pitchFamily="34" charset="0"/>
                <a:ea typeface="Georgia" pitchFamily="34" charset="-122"/>
                <a:cs typeface="Georgia" pitchFamily="34" charset="-120"/>
              </a:rPr>
              <a:t>Temporary Abode</a:t>
            </a:r>
            <a:endParaRPr lang="en-US" sz="2200" dirty="0"/>
          </a:p>
        </p:txBody>
      </p:sp>
      <p:sp>
        <p:nvSpPr>
          <p:cNvPr id="9" name="Text 7"/>
          <p:cNvSpPr/>
          <p:nvPr/>
        </p:nvSpPr>
        <p:spPr>
          <a:xfrm>
            <a:off x="777240" y="2880360"/>
            <a:ext cx="4572000" cy="457200"/>
          </a:xfrm>
          <a:prstGeom prst="rect">
            <a:avLst/>
          </a:prstGeom>
          <a:noFill/>
          <a:ln/>
        </p:spPr>
        <p:txBody>
          <a:bodyPr wrap="square" lIns="0" tIns="0" rIns="0" bIns="0" rtlCol="0" anchor="ctr"/>
          <a:lstStyle/>
          <a:p>
            <a:pPr algn="l" indent="0" marL="0">
              <a:buNone/>
            </a:pPr>
            <a:r>
              <a:rPr lang="en-US" sz="2200" i="1" dirty="0">
                <a:solidFill>
                  <a:srgbClr val="E8C97A"/>
                </a:solidFill>
                <a:latin typeface="Georgia" pitchFamily="34" charset="0"/>
                <a:ea typeface="Georgia" pitchFamily="34" charset="-122"/>
                <a:cs typeface="Georgia" pitchFamily="34" charset="-120"/>
              </a:rPr>
              <a:t>for Character Cultivation</a:t>
            </a:r>
            <a:endParaRPr lang="en-US" sz="2200" dirty="0"/>
          </a:p>
        </p:txBody>
      </p:sp>
      <p:sp>
        <p:nvSpPr>
          <p:cNvPr id="10" name="Shape 8"/>
          <p:cNvSpPr/>
          <p:nvPr/>
        </p:nvSpPr>
        <p:spPr>
          <a:xfrm>
            <a:off x="777240" y="3520440"/>
            <a:ext cx="1371600" cy="27432"/>
          </a:xfrm>
          <a:prstGeom prst="rect">
            <a:avLst/>
          </a:prstGeom>
          <a:solidFill>
            <a:srgbClr val="B8860B"/>
          </a:solidFill>
          <a:ln w="12700">
            <a:solidFill>
              <a:srgbClr val="B8860B"/>
            </a:solidFill>
            <a:prstDash val="solid"/>
          </a:ln>
        </p:spPr>
      </p:sp>
      <p:sp>
        <p:nvSpPr>
          <p:cNvPr id="11" name="Text 9"/>
          <p:cNvSpPr/>
          <p:nvPr/>
        </p:nvSpPr>
        <p:spPr>
          <a:xfrm>
            <a:off x="777240" y="3703320"/>
            <a:ext cx="4572000" cy="2468880"/>
          </a:xfrm>
          <a:prstGeom prst="rect">
            <a:avLst/>
          </a:prstGeom>
          <a:noFill/>
          <a:ln/>
        </p:spPr>
        <p:txBody>
          <a:bodyPr wrap="square" lIns="0" tIns="0" rIns="0" bIns="0" rtlCol="0" anchor="t"/>
          <a:lstStyle/>
          <a:p>
            <a:pPr algn="l" indent="0" marL="0">
              <a:lnSpc>
                <a:spcPts val="2200"/>
              </a:lnSpc>
              <a:buNone/>
            </a:pPr>
            <a:r>
              <a:rPr lang="en-US" sz="1400" b="1" dirty="0">
                <a:solidFill>
                  <a:srgbClr val="E8C97A"/>
                </a:solidFill>
                <a:latin typeface="Calibri" pitchFamily="34" charset="0"/>
                <a:ea typeface="Calibri" pitchFamily="34" charset="-122"/>
                <a:cs typeface="Calibri" pitchFamily="34" charset="-120"/>
              </a:rPr>
              <a:t>Senior Watch Officer</a:t>
            </a:r>
            <a:endParaRPr lang="en-US" sz="1400" dirty="0"/>
          </a:p>
          <a:p>
            <a:pPr algn="l" indent="0" marL="0">
              <a:lnSpc>
                <a:spcPts val="2200"/>
              </a:lnSpc>
              <a:buNone/>
            </a:pPr>
            <a:r>
              <a:rPr lang="en-US" sz="1400" i="1" dirty="0">
                <a:solidFill>
                  <a:srgbClr val="9F9580"/>
                </a:solidFill>
                <a:latin typeface="Calibri" pitchFamily="34" charset="0"/>
                <a:ea typeface="Calibri" pitchFamily="34" charset="-122"/>
                <a:cs typeface="Calibri" pitchFamily="34" charset="-120"/>
              </a:rPr>
              <a:t>Husband / Father</a:t>
            </a:r>
            <a:endParaRPr lang="en-US" sz="1400" dirty="0"/>
          </a:p>
          <a:p>
            <a:pPr algn="l" indent="0" marL="0">
              <a:lnSpc>
                <a:spcPts val="2200"/>
              </a:lnSpc>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algn="l" indent="0" marL="0">
              <a:lnSpc>
                <a:spcPts val="2200"/>
              </a:lnSpc>
              <a:buNone/>
            </a:pPr>
            <a:r>
              <a:rPr lang="en-US" sz="1400" b="1" dirty="0">
                <a:solidFill>
                  <a:srgbClr val="E8C97A"/>
                </a:solidFill>
                <a:latin typeface="Calibri" pitchFamily="34" charset="0"/>
                <a:ea typeface="Calibri" pitchFamily="34" charset="-122"/>
                <a:cs typeface="Calibri" pitchFamily="34" charset="-120"/>
              </a:rPr>
              <a:t>Senior Administrator</a:t>
            </a:r>
            <a:endParaRPr lang="en-US" sz="1400" dirty="0"/>
          </a:p>
          <a:p>
            <a:pPr algn="l" indent="0" marL="0">
              <a:lnSpc>
                <a:spcPts val="2200"/>
              </a:lnSpc>
              <a:buNone/>
            </a:pPr>
            <a:r>
              <a:rPr lang="en-US" sz="1400" i="1" dirty="0">
                <a:solidFill>
                  <a:srgbClr val="9F9580"/>
                </a:solidFill>
                <a:latin typeface="Calibri" pitchFamily="34" charset="0"/>
                <a:ea typeface="Calibri" pitchFamily="34" charset="-122"/>
                <a:cs typeface="Calibri" pitchFamily="34" charset="-120"/>
              </a:rPr>
              <a:t>Wife / Mother</a:t>
            </a:r>
            <a:endParaRPr lang="en-US" sz="1400" dirty="0"/>
          </a:p>
          <a:p>
            <a:pPr algn="l" indent="0" marL="0">
              <a:lnSpc>
                <a:spcPts val="2200"/>
              </a:lnSpc>
              <a:buNone/>
            </a:pPr>
            <a:r>
              <a:rPr lang="en-US" sz="1400" dirty="0">
                <a:solidFill>
                  <a:srgbClr val="000000"/>
                </a:solidFill>
                <a:latin typeface="Calibri" pitchFamily="34" charset="0"/>
                <a:ea typeface="Calibri" pitchFamily="34" charset="-122"/>
                <a:cs typeface="Calibri" pitchFamily="34" charset="-120"/>
              </a:rPr>
              <a:t> </a:t>
            </a:r>
            <a:endParaRPr lang="en-US" sz="1400" dirty="0"/>
          </a:p>
          <a:p>
            <a:pPr algn="l" indent="0" marL="0">
              <a:lnSpc>
                <a:spcPts val="2200"/>
              </a:lnSpc>
              <a:buNone/>
            </a:pPr>
            <a:r>
              <a:rPr lang="en-US" sz="1400" b="1" dirty="0">
                <a:solidFill>
                  <a:srgbClr val="E8C97A"/>
                </a:solidFill>
                <a:latin typeface="Calibri" pitchFamily="34" charset="0"/>
                <a:ea typeface="Calibri" pitchFamily="34" charset="-122"/>
                <a:cs typeface="Calibri" pitchFamily="34" charset="-120"/>
              </a:rPr>
              <a:t>Operational Roles</a:t>
            </a:r>
            <a:endParaRPr lang="en-US" sz="1400" dirty="0"/>
          </a:p>
          <a:p>
            <a:pPr algn="l" indent="0" marL="0">
              <a:lnSpc>
                <a:spcPts val="2200"/>
              </a:lnSpc>
              <a:buNone/>
            </a:pPr>
            <a:r>
              <a:rPr lang="en-US" sz="1400" i="1" dirty="0">
                <a:solidFill>
                  <a:srgbClr val="9F9580"/>
                </a:solidFill>
                <a:latin typeface="Calibri" pitchFamily="34" charset="0"/>
                <a:ea typeface="Calibri" pitchFamily="34" charset="-122"/>
                <a:cs typeface="Calibri" pitchFamily="34" charset="-120"/>
              </a:rPr>
              <a:t>Children with call signs</a:t>
            </a:r>
            <a:endParaRPr lang="en-US" sz="1400" dirty="0"/>
          </a:p>
        </p:txBody>
      </p:sp>
      <p:sp>
        <p:nvSpPr>
          <p:cNvPr id="12" name="Text 10"/>
          <p:cNvSpPr/>
          <p:nvPr/>
        </p:nvSpPr>
        <p:spPr>
          <a:xfrm>
            <a:off x="5760720" y="1280160"/>
            <a:ext cx="5943600" cy="457200"/>
          </a:xfrm>
          <a:prstGeom prst="rect">
            <a:avLst/>
          </a:prstGeom>
          <a:noFill/>
          <a:ln/>
        </p:spPr>
        <p:txBody>
          <a:bodyPr wrap="square" lIns="0" tIns="0" rIns="0" bIns="0" rtlCol="0" anchor="ctr"/>
          <a:lstStyle/>
          <a:p>
            <a:pPr algn="l" indent="0" marL="0">
              <a:buNone/>
            </a:pPr>
            <a:r>
              <a:rPr lang="en-US" sz="2200" b="1" dirty="0">
                <a:solidFill>
                  <a:srgbClr val="D4A437"/>
                </a:solidFill>
                <a:latin typeface="Georgia" pitchFamily="34" charset="0"/>
                <a:ea typeface="Georgia" pitchFamily="34" charset="-122"/>
                <a:cs typeface="Georgia" pitchFamily="34" charset="-120"/>
              </a:rPr>
              <a:t>The framework starts at home.</a:t>
            </a:r>
            <a:endParaRPr lang="en-US" sz="2200" dirty="0"/>
          </a:p>
        </p:txBody>
      </p:sp>
      <p:sp>
        <p:nvSpPr>
          <p:cNvPr id="13" name="Text 11"/>
          <p:cNvSpPr/>
          <p:nvPr/>
        </p:nvSpPr>
        <p:spPr>
          <a:xfrm>
            <a:off x="5760720" y="1828800"/>
            <a:ext cx="5943600" cy="4389120"/>
          </a:xfrm>
          <a:prstGeom prst="rect">
            <a:avLst/>
          </a:prstGeom>
          <a:noFill/>
          <a:ln/>
        </p:spPr>
        <p:txBody>
          <a:bodyPr wrap="square" lIns="0" tIns="0" rIns="0" bIns="0" rtlCol="0" anchor="t"/>
          <a:lstStyle/>
          <a:p>
            <a:pPr algn="l" indent="0" marL="0">
              <a:lnSpc>
                <a:spcPts val="2200"/>
              </a:lnSpc>
              <a:buNone/>
            </a:pPr>
            <a:r>
              <a:rPr lang="en-US" sz="1500" dirty="0">
                <a:solidFill>
                  <a:srgbClr val="EDE6CC"/>
                </a:solidFill>
                <a:latin typeface="Calibri" pitchFamily="34" charset="0"/>
                <a:ea typeface="Calibri" pitchFamily="34" charset="-122"/>
                <a:cs typeface="Calibri" pitchFamily="34" charset="-120"/>
              </a:rPr>
              <a:t>The TACC family-leadership construct—a MOOP modification of the original framework by John Michael Clark—re-reads the household as the man’s first mission field.</a:t>
            </a:r>
            <a:endParaRPr lang="en-US" sz="1500" dirty="0"/>
          </a:p>
          <a:p>
            <a:pPr algn="l" indent="0" marL="0">
              <a:lnSpc>
                <a:spcPts val="2200"/>
              </a:lnSpc>
              <a:buNone/>
            </a:pPr>
            <a:r>
              <a:rPr lang="en-US" sz="1500" dirty="0">
                <a:solidFill>
                  <a:srgbClr val="000000"/>
                </a:solidFill>
                <a:latin typeface="Calibri" pitchFamily="34" charset="0"/>
                <a:ea typeface="Calibri" pitchFamily="34" charset="-122"/>
                <a:cs typeface="Calibri" pitchFamily="34" charset="-120"/>
              </a:rPr>
              <a:t> </a:t>
            </a:r>
            <a:endParaRPr lang="en-US" sz="1500" dirty="0"/>
          </a:p>
          <a:p>
            <a:pPr algn="l" indent="0" marL="0">
              <a:lnSpc>
                <a:spcPts val="2200"/>
              </a:lnSpc>
              <a:buNone/>
            </a:pPr>
            <a:r>
              <a:rPr lang="en-US" sz="1500" dirty="0">
                <a:solidFill>
                  <a:srgbClr val="EDE6CC"/>
                </a:solidFill>
                <a:latin typeface="Calibri" pitchFamily="34" charset="0"/>
                <a:ea typeface="Calibri" pitchFamily="34" charset="-122"/>
                <a:cs typeface="Calibri" pitchFamily="34" charset="-120"/>
              </a:rPr>
              <a:t>The family captain is the innovator who refuses to wait for the church program, the cultural permission, or the perfect moment. He disciples his wife and children </a:t>
            </a:r>
            <a:pPr algn="l" indent="0" marL="0">
              <a:lnSpc>
                <a:spcPts val="2200"/>
              </a:lnSpc>
              <a:buNone/>
            </a:pPr>
            <a:r>
              <a:rPr lang="en-US" sz="1500" i="1" dirty="0">
                <a:solidFill>
                  <a:srgbClr val="E8C97A"/>
                </a:solidFill>
                <a:latin typeface="Calibri" pitchFamily="34" charset="0"/>
                <a:ea typeface="Calibri" pitchFamily="34" charset="-122"/>
                <a:cs typeface="Calibri" pitchFamily="34" charset="-120"/>
              </a:rPr>
              <a:t>first</a:t>
            </a:r>
            <a:pPr algn="l" indent="0" marL="0">
              <a:lnSpc>
                <a:spcPts val="2200"/>
              </a:lnSpc>
              <a:buNone/>
            </a:pPr>
            <a:r>
              <a:rPr lang="en-US" sz="1500" dirty="0">
                <a:solidFill>
                  <a:srgbClr val="EDE6CC"/>
                </a:solidFill>
                <a:latin typeface="Calibri" pitchFamily="34" charset="0"/>
                <a:ea typeface="Calibri" pitchFamily="34" charset="-122"/>
                <a:cs typeface="Calibri" pitchFamily="34" charset="-120"/>
              </a:rPr>
              <a:t>.</a:t>
            </a:r>
            <a:endParaRPr lang="en-US" sz="1500" dirty="0"/>
          </a:p>
          <a:p>
            <a:pPr algn="l" indent="0" marL="0">
              <a:lnSpc>
                <a:spcPts val="2200"/>
              </a:lnSpc>
              <a:buNone/>
            </a:pPr>
            <a:r>
              <a:rPr lang="en-US" sz="1500" dirty="0">
                <a:solidFill>
                  <a:srgbClr val="000000"/>
                </a:solidFill>
                <a:latin typeface="Calibri" pitchFamily="34" charset="0"/>
                <a:ea typeface="Calibri" pitchFamily="34" charset="-122"/>
                <a:cs typeface="Calibri" pitchFamily="34" charset="-120"/>
              </a:rPr>
              <a:t> </a:t>
            </a:r>
            <a:endParaRPr lang="en-US" sz="1500" dirty="0"/>
          </a:p>
          <a:p>
            <a:pPr algn="l" indent="0" marL="0">
              <a:lnSpc>
                <a:spcPts val="2200"/>
              </a:lnSpc>
              <a:buNone/>
            </a:pPr>
            <a:r>
              <a:rPr lang="en-US" sz="1500" i="1" dirty="0">
                <a:solidFill>
                  <a:srgbClr val="E8C97A"/>
                </a:solidFill>
                <a:latin typeface="Calibri" pitchFamily="34" charset="0"/>
                <a:ea typeface="Calibri" pitchFamily="34" charset="-122"/>
                <a:cs typeface="Calibri" pitchFamily="34" charset="-120"/>
              </a:rPr>
              <a:t>If the curve doesn’t cross the threshold of his own front door, no ministry downstream will hold.</a:t>
            </a:r>
            <a:endParaRPr lang="en-US" sz="1500" dirty="0"/>
          </a:p>
        </p:txBody>
      </p:sp>
      <p:sp>
        <p:nvSpPr>
          <p:cNvPr id="14" name="Shape 12"/>
          <p:cNvSpPr/>
          <p:nvPr/>
        </p:nvSpPr>
        <p:spPr>
          <a:xfrm>
            <a:off x="457200" y="6446520"/>
            <a:ext cx="11247120" cy="16459"/>
          </a:xfrm>
          <a:prstGeom prst="rect">
            <a:avLst/>
          </a:prstGeom>
          <a:solidFill>
            <a:srgbClr val="B8860B"/>
          </a:solidFill>
          <a:ln w="12700">
            <a:solidFill>
              <a:srgbClr val="B8860B"/>
            </a:solidFill>
            <a:prstDash val="solid"/>
          </a:ln>
        </p:spPr>
      </p:sp>
      <p:sp>
        <p:nvSpPr>
          <p:cNvPr id="15" name="Text 13"/>
          <p:cNvSpPr/>
          <p:nvPr/>
        </p:nvSpPr>
        <p:spPr>
          <a:xfrm>
            <a:off x="457200" y="6510528"/>
            <a:ext cx="8229600" cy="274320"/>
          </a:xfrm>
          <a:prstGeom prst="rect">
            <a:avLst/>
          </a:prstGeom>
          <a:noFill/>
          <a:ln/>
        </p:spPr>
        <p:txBody>
          <a:bodyPr wrap="square" lIns="0" tIns="0" rIns="0" bIns="0" rtlCol="0" anchor="t"/>
          <a:lstStyle/>
          <a:p>
            <a:pPr algn="l" indent="0" marL="0">
              <a:buNone/>
            </a:pPr>
            <a:r>
              <a:rPr lang="en-US" sz="1000" dirty="0">
                <a:solidFill>
                  <a:srgbClr val="E8C97A"/>
                </a:solidFill>
                <a:latin typeface="Georgia" pitchFamily="34" charset="0"/>
                <a:ea typeface="Georgia" pitchFamily="34" charset="-122"/>
                <a:cs typeface="Georgia" pitchFamily="34" charset="-120"/>
              </a:rPr>
              <a:t>usmcmin.org</a:t>
            </a:r>
            <a:pPr algn="l" indent="0" marL="0">
              <a:buNone/>
            </a:pPr>
            <a:r>
              <a:rPr lang="en-US" sz="1000" dirty="0">
                <a:solidFill>
                  <a:srgbClr val="9F9580"/>
                </a:solidFill>
                <a:latin typeface="Georgia" pitchFamily="34" charset="0"/>
                <a:ea typeface="Georgia" pitchFamily="34" charset="-122"/>
                <a:cs typeface="Georgia" pitchFamily="34" charset="-120"/>
              </a:rPr>
              <a:t>  ·  </a:t>
            </a:r>
            <a:pPr algn="l" indent="0" marL="0">
              <a:buNone/>
            </a:pPr>
            <a:r>
              <a:rPr lang="en-US" sz="1000" i="1" dirty="0">
                <a:solidFill>
                  <a:srgbClr val="9F9580"/>
                </a:solidFill>
                <a:latin typeface="Georgia" pitchFamily="34" charset="0"/>
                <a:ea typeface="Georgia" pitchFamily="34" charset="-122"/>
                <a:cs typeface="Georgia" pitchFamily="34" charset="-120"/>
              </a:rPr>
              <a:t>“Iron sharpens iron.” — Prov. 27:17</a:t>
            </a:r>
            <a:endParaRPr lang="en-US" sz="1000" dirty="0"/>
          </a:p>
        </p:txBody>
      </p:sp>
      <p:sp>
        <p:nvSpPr>
          <p:cNvPr id="16" name="Text 14"/>
          <p:cNvSpPr/>
          <p:nvPr/>
        </p:nvSpPr>
        <p:spPr>
          <a:xfrm>
            <a:off x="10789920" y="6510528"/>
            <a:ext cx="914400" cy="274320"/>
          </a:xfrm>
          <a:prstGeom prst="rect">
            <a:avLst/>
          </a:prstGeom>
          <a:noFill/>
          <a:ln/>
        </p:spPr>
        <p:txBody>
          <a:bodyPr wrap="square" lIns="0" tIns="0" rIns="0" bIns="0" rtlCol="0" anchor="t"/>
          <a:lstStyle/>
          <a:p>
            <a:pPr algn="r" indent="0" marL="0">
              <a:buNone/>
            </a:pPr>
            <a:r>
              <a:rPr lang="en-US" sz="1000" dirty="0">
                <a:solidFill>
                  <a:srgbClr val="9F9580"/>
                </a:solidFill>
                <a:latin typeface="Georgia" pitchFamily="34" charset="0"/>
                <a:ea typeface="Georgia" pitchFamily="34" charset="-122"/>
                <a:cs typeface="Georgia" pitchFamily="34" charset="-120"/>
              </a:rPr>
              <a:t>7 / 10</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457200" y="320040"/>
            <a:ext cx="8686800" cy="640080"/>
          </a:xfrm>
          <a:prstGeom prst="rect">
            <a:avLst/>
          </a:prstGeom>
          <a:noFill/>
          <a:ln/>
        </p:spPr>
        <p:txBody>
          <a:bodyPr wrap="square" lIns="0" tIns="0" rIns="0" bIns="0" rtlCol="0" anchor="ctr"/>
          <a:lstStyle/>
          <a:p>
            <a:pPr algn="l" indent="0" marL="0">
              <a:buNone/>
            </a:pPr>
            <a:r>
              <a:rPr lang="en-US" sz="2800" b="1" spc="400" kern="0" dirty="0">
                <a:solidFill>
                  <a:srgbClr val="D4A437"/>
                </a:solidFill>
                <a:latin typeface="Georgia" pitchFamily="34" charset="0"/>
                <a:ea typeface="Georgia" pitchFamily="34" charset="-122"/>
                <a:cs typeface="Georgia" pitchFamily="34" charset="-120"/>
              </a:rPr>
              <a:t>THE MINISTRY NETWORK</a:t>
            </a:r>
            <a:endParaRPr lang="en-US" sz="2800" dirty="0"/>
          </a:p>
        </p:txBody>
      </p:sp>
      <p:sp>
        <p:nvSpPr>
          <p:cNvPr id="3" name="Text 1"/>
          <p:cNvSpPr/>
          <p:nvPr/>
        </p:nvSpPr>
        <p:spPr>
          <a:xfrm>
            <a:off x="9144000" y="320040"/>
            <a:ext cx="2560320" cy="365760"/>
          </a:xfrm>
          <a:prstGeom prst="rect">
            <a:avLst/>
          </a:prstGeom>
          <a:noFill/>
          <a:ln/>
        </p:spPr>
        <p:txBody>
          <a:bodyPr wrap="square" lIns="0" tIns="0" rIns="0" bIns="0" rtlCol="0" anchor="ctr"/>
          <a:lstStyle/>
          <a:p>
            <a:pPr algn="r" indent="0" marL="0">
              <a:buNone/>
            </a:pPr>
            <a:r>
              <a:rPr lang="en-US" sz="1100" spc="300" kern="0" dirty="0">
                <a:solidFill>
                  <a:srgbClr val="9F9580"/>
                </a:solidFill>
                <a:latin typeface="Georgia" pitchFamily="34" charset="0"/>
                <a:ea typeface="Georgia" pitchFamily="34" charset="-122"/>
                <a:cs typeface="Georgia" pitchFamily="34" charset="-120"/>
              </a:rPr>
              <a:t>U.S.M.C. MINISTRIES</a:t>
            </a:r>
            <a:endParaRPr lang="en-US" sz="1100" dirty="0"/>
          </a:p>
        </p:txBody>
      </p:sp>
      <p:sp>
        <p:nvSpPr>
          <p:cNvPr id="4" name="Shape 2"/>
          <p:cNvSpPr/>
          <p:nvPr/>
        </p:nvSpPr>
        <p:spPr>
          <a:xfrm>
            <a:off x="457200" y="1005840"/>
            <a:ext cx="11247120" cy="22860"/>
          </a:xfrm>
          <a:prstGeom prst="rect">
            <a:avLst/>
          </a:prstGeom>
          <a:solidFill>
            <a:srgbClr val="B8860B"/>
          </a:solidFill>
          <a:ln w="12700">
            <a:solidFill>
              <a:srgbClr val="B8860B"/>
            </a:solidFill>
            <a:prstDash val="solid"/>
          </a:ln>
        </p:spPr>
      </p:sp>
      <p:sp>
        <p:nvSpPr>
          <p:cNvPr id="5" name="Text 3"/>
          <p:cNvSpPr/>
          <p:nvPr/>
        </p:nvSpPr>
        <p:spPr>
          <a:xfrm>
            <a:off x="457200" y="1188720"/>
            <a:ext cx="11247120" cy="365760"/>
          </a:xfrm>
          <a:prstGeom prst="rect">
            <a:avLst/>
          </a:prstGeom>
          <a:noFill/>
          <a:ln/>
        </p:spPr>
        <p:txBody>
          <a:bodyPr wrap="square" lIns="0" tIns="0" rIns="0" bIns="0" rtlCol="0" anchor="ctr"/>
          <a:lstStyle/>
          <a:p>
            <a:pPr algn="l" indent="0" marL="0">
              <a:buNone/>
            </a:pPr>
            <a:r>
              <a:rPr lang="en-US" sz="1600" i="1" dirty="0">
                <a:solidFill>
                  <a:srgbClr val="E8C97A"/>
                </a:solidFill>
                <a:latin typeface="Georgia" pitchFamily="34" charset="0"/>
                <a:ea typeface="Georgia" pitchFamily="34" charset="-122"/>
                <a:cs typeface="Georgia" pitchFamily="34" charset="-120"/>
              </a:rPr>
              <a:t>No single ministry reaches every segment. Each works a different soil.</a:t>
            </a:r>
            <a:endParaRPr lang="en-US" sz="1600" dirty="0"/>
          </a:p>
        </p:txBody>
      </p:sp>
      <p:sp>
        <p:nvSpPr>
          <p:cNvPr id="6" name="Shape 4"/>
          <p:cNvSpPr/>
          <p:nvPr/>
        </p:nvSpPr>
        <p:spPr>
          <a:xfrm>
            <a:off x="457200" y="1828800"/>
            <a:ext cx="3611880" cy="2103120"/>
          </a:xfrm>
          <a:prstGeom prst="rect">
            <a:avLst/>
          </a:prstGeom>
          <a:solidFill>
            <a:srgbClr val="1C1C1C"/>
          </a:solidFill>
          <a:ln w="9525">
            <a:solidFill>
              <a:srgbClr val="B8860B"/>
            </a:solidFill>
            <a:prstDash val="solid"/>
          </a:ln>
        </p:spPr>
      </p:sp>
      <p:sp>
        <p:nvSpPr>
          <p:cNvPr id="7" name="Shape 5"/>
          <p:cNvSpPr/>
          <p:nvPr/>
        </p:nvSpPr>
        <p:spPr>
          <a:xfrm>
            <a:off x="457200" y="1828800"/>
            <a:ext cx="3611880" cy="73152"/>
          </a:xfrm>
          <a:prstGeom prst="rect">
            <a:avLst/>
          </a:prstGeom>
          <a:solidFill>
            <a:srgbClr val="D4A437"/>
          </a:solidFill>
          <a:ln w="12700">
            <a:solidFill>
              <a:srgbClr val="D4A437"/>
            </a:solidFill>
            <a:prstDash val="solid"/>
          </a:ln>
        </p:spPr>
      </p:sp>
      <p:sp>
        <p:nvSpPr>
          <p:cNvPr id="8" name="Text 6"/>
          <p:cNvSpPr/>
          <p:nvPr/>
        </p:nvSpPr>
        <p:spPr>
          <a:xfrm>
            <a:off x="640080" y="2011680"/>
            <a:ext cx="3246120" cy="640080"/>
          </a:xfrm>
          <a:prstGeom prst="rect">
            <a:avLst/>
          </a:prstGeom>
          <a:noFill/>
          <a:ln/>
        </p:spPr>
        <p:txBody>
          <a:bodyPr wrap="square" lIns="0" tIns="0" rIns="0" bIns="0" rtlCol="0" anchor="t"/>
          <a:lstStyle/>
          <a:p>
            <a:pPr algn="l" indent="0" marL="0">
              <a:buNone/>
            </a:pPr>
            <a:r>
              <a:rPr lang="en-US" sz="1400" b="1" dirty="0">
                <a:solidFill>
                  <a:srgbClr val="E8C97A"/>
                </a:solidFill>
                <a:latin typeface="Georgia" pitchFamily="34" charset="0"/>
                <a:ea typeface="Georgia" pitchFamily="34" charset="-122"/>
                <a:cs typeface="Georgia" pitchFamily="34" charset="-120"/>
              </a:rPr>
              <a:t>Spotswood Baptist Church</a:t>
            </a:r>
            <a:endParaRPr lang="en-US" sz="1400" dirty="0"/>
          </a:p>
        </p:txBody>
      </p:sp>
      <p:sp>
        <p:nvSpPr>
          <p:cNvPr id="9" name="Text 7"/>
          <p:cNvSpPr/>
          <p:nvPr/>
        </p:nvSpPr>
        <p:spPr>
          <a:xfrm>
            <a:off x="640080" y="2651760"/>
            <a:ext cx="3246120" cy="274320"/>
          </a:xfrm>
          <a:prstGeom prst="rect">
            <a:avLst/>
          </a:prstGeom>
          <a:noFill/>
          <a:ln/>
        </p:spPr>
        <p:txBody>
          <a:bodyPr wrap="square" lIns="0" tIns="0" rIns="0" bIns="0" rtlCol="0" anchor="ctr"/>
          <a:lstStyle/>
          <a:p>
            <a:pPr algn="l" indent="0" marL="0">
              <a:buNone/>
            </a:pPr>
            <a:r>
              <a:rPr lang="en-US" sz="900" spc="300" kern="0" dirty="0">
                <a:solidFill>
                  <a:srgbClr val="D4A437"/>
                </a:solidFill>
                <a:latin typeface="Georgia" pitchFamily="34" charset="0"/>
                <a:ea typeface="Georgia" pitchFamily="34" charset="-122"/>
                <a:cs typeface="Georgia" pitchFamily="34" charset="-120"/>
              </a:rPr>
              <a:t>ALL FIVE SEGMENTS</a:t>
            </a:r>
            <a:endParaRPr lang="en-US" sz="900" dirty="0"/>
          </a:p>
        </p:txBody>
      </p:sp>
      <p:sp>
        <p:nvSpPr>
          <p:cNvPr id="10" name="Text 8"/>
          <p:cNvSpPr/>
          <p:nvPr/>
        </p:nvSpPr>
        <p:spPr>
          <a:xfrm>
            <a:off x="640080" y="2971800"/>
            <a:ext cx="3246120" cy="685800"/>
          </a:xfrm>
          <a:prstGeom prst="rect">
            <a:avLst/>
          </a:prstGeom>
          <a:noFill/>
          <a:ln/>
        </p:spPr>
        <p:txBody>
          <a:bodyPr wrap="square" lIns="0" tIns="0" rIns="0" bIns="0" rtlCol="0" anchor="t"/>
          <a:lstStyle/>
          <a:p>
            <a:pPr algn="l" indent="0" marL="0">
              <a:lnSpc>
                <a:spcPts val="1700"/>
              </a:lnSpc>
              <a:buNone/>
            </a:pPr>
            <a:r>
              <a:rPr lang="en-US" sz="1200" dirty="0">
                <a:solidFill>
                  <a:srgbClr val="EDE6CC"/>
                </a:solidFill>
                <a:latin typeface="Calibri" pitchFamily="34" charset="0"/>
                <a:ea typeface="Calibri" pitchFamily="34" charset="-122"/>
                <a:cs typeface="Calibri" pitchFamily="34" charset="-120"/>
              </a:rPr>
              <a:t>Pulpit · pastoral covering · Freedom Group host</a:t>
            </a:r>
            <a:endParaRPr lang="en-US" sz="1200" dirty="0"/>
          </a:p>
        </p:txBody>
      </p:sp>
      <p:sp>
        <p:nvSpPr>
          <p:cNvPr id="11" name="Text 9"/>
          <p:cNvSpPr/>
          <p:nvPr/>
        </p:nvSpPr>
        <p:spPr>
          <a:xfrm>
            <a:off x="640080" y="3566160"/>
            <a:ext cx="3246120" cy="274320"/>
          </a:xfrm>
          <a:prstGeom prst="rect">
            <a:avLst/>
          </a:prstGeom>
          <a:noFill/>
          <a:ln/>
        </p:spPr>
        <p:txBody>
          <a:bodyPr wrap="square" lIns="0" tIns="0" rIns="0" bIns="0" rtlCol="0" anchor="ctr"/>
          <a:lstStyle/>
          <a:p>
            <a:pPr algn="l" indent="0" marL="0">
              <a:buNone/>
            </a:pPr>
            <a:r>
              <a:rPr lang="en-US" sz="1000" i="1" dirty="0">
                <a:solidFill>
                  <a:srgbClr val="B8860B"/>
                </a:solidFill>
                <a:latin typeface="Calibri" pitchFamily="34" charset="0"/>
                <a:ea typeface="Calibri" pitchFamily="34" charset="-122"/>
                <a:cs typeface="Calibri" pitchFamily="34" charset="-120"/>
              </a:rPr>
              <a:t>spotswood.org</a:t>
            </a:r>
            <a:endParaRPr lang="en-US" sz="1000" dirty="0"/>
          </a:p>
        </p:txBody>
      </p:sp>
      <p:sp>
        <p:nvSpPr>
          <p:cNvPr id="12" name="Shape 10"/>
          <p:cNvSpPr/>
          <p:nvPr/>
        </p:nvSpPr>
        <p:spPr>
          <a:xfrm>
            <a:off x="4251960" y="1828800"/>
            <a:ext cx="3611880" cy="2103120"/>
          </a:xfrm>
          <a:prstGeom prst="rect">
            <a:avLst/>
          </a:prstGeom>
          <a:solidFill>
            <a:srgbClr val="1C1C1C"/>
          </a:solidFill>
          <a:ln w="9525">
            <a:solidFill>
              <a:srgbClr val="B8860B"/>
            </a:solidFill>
            <a:prstDash val="solid"/>
          </a:ln>
        </p:spPr>
      </p:sp>
      <p:sp>
        <p:nvSpPr>
          <p:cNvPr id="13" name="Shape 11"/>
          <p:cNvSpPr/>
          <p:nvPr/>
        </p:nvSpPr>
        <p:spPr>
          <a:xfrm>
            <a:off x="4251960" y="1828800"/>
            <a:ext cx="3611880" cy="73152"/>
          </a:xfrm>
          <a:prstGeom prst="rect">
            <a:avLst/>
          </a:prstGeom>
          <a:solidFill>
            <a:srgbClr val="D4A437"/>
          </a:solidFill>
          <a:ln w="12700">
            <a:solidFill>
              <a:srgbClr val="D4A437"/>
            </a:solidFill>
            <a:prstDash val="solid"/>
          </a:ln>
        </p:spPr>
      </p:sp>
      <p:sp>
        <p:nvSpPr>
          <p:cNvPr id="14" name="Text 12"/>
          <p:cNvSpPr/>
          <p:nvPr/>
        </p:nvSpPr>
        <p:spPr>
          <a:xfrm>
            <a:off x="4434840" y="2011680"/>
            <a:ext cx="3246120" cy="640080"/>
          </a:xfrm>
          <a:prstGeom prst="rect">
            <a:avLst/>
          </a:prstGeom>
          <a:noFill/>
          <a:ln/>
        </p:spPr>
        <p:txBody>
          <a:bodyPr wrap="square" lIns="0" tIns="0" rIns="0" bIns="0" rtlCol="0" anchor="t"/>
          <a:lstStyle/>
          <a:p>
            <a:pPr algn="l" indent="0" marL="0">
              <a:buNone/>
            </a:pPr>
            <a:r>
              <a:rPr lang="en-US" sz="1400" b="1" dirty="0">
                <a:solidFill>
                  <a:srgbClr val="E8C97A"/>
                </a:solidFill>
                <a:latin typeface="Georgia" pitchFamily="34" charset="0"/>
                <a:ea typeface="Georgia" pitchFamily="34" charset="-122"/>
                <a:cs typeface="Georgia" pitchFamily="34" charset="-120"/>
              </a:rPr>
              <a:t>Proven Men Ministries</a:t>
            </a:r>
            <a:endParaRPr lang="en-US" sz="1400" dirty="0"/>
          </a:p>
        </p:txBody>
      </p:sp>
      <p:sp>
        <p:nvSpPr>
          <p:cNvPr id="15" name="Text 13"/>
          <p:cNvSpPr/>
          <p:nvPr/>
        </p:nvSpPr>
        <p:spPr>
          <a:xfrm>
            <a:off x="4434840" y="2651760"/>
            <a:ext cx="3246120" cy="274320"/>
          </a:xfrm>
          <a:prstGeom prst="rect">
            <a:avLst/>
          </a:prstGeom>
          <a:noFill/>
          <a:ln/>
        </p:spPr>
        <p:txBody>
          <a:bodyPr wrap="square" lIns="0" tIns="0" rIns="0" bIns="0" rtlCol="0" anchor="ctr"/>
          <a:lstStyle/>
          <a:p>
            <a:pPr algn="l" indent="0" marL="0">
              <a:buNone/>
            </a:pPr>
            <a:r>
              <a:rPr lang="en-US" sz="900" spc="300" kern="0" dirty="0">
                <a:solidFill>
                  <a:srgbClr val="D4A437"/>
                </a:solidFill>
                <a:latin typeface="Georgia" pitchFamily="34" charset="0"/>
                <a:ea typeface="Georgia" pitchFamily="34" charset="-122"/>
                <a:cs typeface="Georgia" pitchFamily="34" charset="-120"/>
              </a:rPr>
              <a:t>INNOVATORS · EARLY ADOPTERS</a:t>
            </a:r>
            <a:endParaRPr lang="en-US" sz="900" dirty="0"/>
          </a:p>
        </p:txBody>
      </p:sp>
      <p:sp>
        <p:nvSpPr>
          <p:cNvPr id="16" name="Text 14"/>
          <p:cNvSpPr/>
          <p:nvPr/>
        </p:nvSpPr>
        <p:spPr>
          <a:xfrm>
            <a:off x="4434840" y="2971800"/>
            <a:ext cx="3246120" cy="685800"/>
          </a:xfrm>
          <a:prstGeom prst="rect">
            <a:avLst/>
          </a:prstGeom>
          <a:noFill/>
          <a:ln/>
        </p:spPr>
        <p:txBody>
          <a:bodyPr wrap="square" lIns="0" tIns="0" rIns="0" bIns="0" rtlCol="0" anchor="t"/>
          <a:lstStyle/>
          <a:p>
            <a:pPr algn="l" indent="0" marL="0">
              <a:lnSpc>
                <a:spcPts val="1700"/>
              </a:lnSpc>
              <a:buNone/>
            </a:pPr>
            <a:r>
              <a:rPr lang="en-US" sz="1200" dirty="0">
                <a:solidFill>
                  <a:srgbClr val="EDE6CC"/>
                </a:solidFill>
                <a:latin typeface="Calibri" pitchFamily="34" charset="0"/>
                <a:ea typeface="Calibri" pitchFamily="34" charset="-122"/>
                <a:cs typeface="Calibri" pitchFamily="34" charset="-120"/>
              </a:rPr>
              <a:t>Sexual integrity · 12-week workbook</a:t>
            </a:r>
            <a:endParaRPr lang="en-US" sz="1200" dirty="0"/>
          </a:p>
        </p:txBody>
      </p:sp>
      <p:sp>
        <p:nvSpPr>
          <p:cNvPr id="17" name="Text 15"/>
          <p:cNvSpPr/>
          <p:nvPr/>
        </p:nvSpPr>
        <p:spPr>
          <a:xfrm>
            <a:off x="4434840" y="3566160"/>
            <a:ext cx="3246120" cy="274320"/>
          </a:xfrm>
          <a:prstGeom prst="rect">
            <a:avLst/>
          </a:prstGeom>
          <a:noFill/>
          <a:ln/>
        </p:spPr>
        <p:txBody>
          <a:bodyPr wrap="square" lIns="0" tIns="0" rIns="0" bIns="0" rtlCol="0" anchor="ctr"/>
          <a:lstStyle/>
          <a:p>
            <a:pPr algn="l" indent="0" marL="0">
              <a:buNone/>
            </a:pPr>
            <a:r>
              <a:rPr lang="en-US" sz="1000" i="1" dirty="0">
                <a:solidFill>
                  <a:srgbClr val="B8860B"/>
                </a:solidFill>
                <a:latin typeface="Calibri" pitchFamily="34" charset="0"/>
                <a:ea typeface="Calibri" pitchFamily="34" charset="-122"/>
                <a:cs typeface="Calibri" pitchFamily="34" charset="-120"/>
              </a:rPr>
              <a:t>provenmen.org</a:t>
            </a:r>
            <a:endParaRPr lang="en-US" sz="1000" dirty="0"/>
          </a:p>
        </p:txBody>
      </p:sp>
      <p:sp>
        <p:nvSpPr>
          <p:cNvPr id="18" name="Shape 16"/>
          <p:cNvSpPr/>
          <p:nvPr/>
        </p:nvSpPr>
        <p:spPr>
          <a:xfrm>
            <a:off x="8046720" y="1828800"/>
            <a:ext cx="3611880" cy="2103120"/>
          </a:xfrm>
          <a:prstGeom prst="rect">
            <a:avLst/>
          </a:prstGeom>
          <a:solidFill>
            <a:srgbClr val="1C1C1C"/>
          </a:solidFill>
          <a:ln w="9525">
            <a:solidFill>
              <a:srgbClr val="B8860B"/>
            </a:solidFill>
            <a:prstDash val="solid"/>
          </a:ln>
        </p:spPr>
      </p:sp>
      <p:sp>
        <p:nvSpPr>
          <p:cNvPr id="19" name="Shape 17"/>
          <p:cNvSpPr/>
          <p:nvPr/>
        </p:nvSpPr>
        <p:spPr>
          <a:xfrm>
            <a:off x="8046720" y="1828800"/>
            <a:ext cx="3611880" cy="73152"/>
          </a:xfrm>
          <a:prstGeom prst="rect">
            <a:avLst/>
          </a:prstGeom>
          <a:solidFill>
            <a:srgbClr val="D4A437"/>
          </a:solidFill>
          <a:ln w="12700">
            <a:solidFill>
              <a:srgbClr val="D4A437"/>
            </a:solidFill>
            <a:prstDash val="solid"/>
          </a:ln>
        </p:spPr>
      </p:sp>
      <p:sp>
        <p:nvSpPr>
          <p:cNvPr id="20" name="Text 18"/>
          <p:cNvSpPr/>
          <p:nvPr/>
        </p:nvSpPr>
        <p:spPr>
          <a:xfrm>
            <a:off x="8229600" y="2011680"/>
            <a:ext cx="3246120" cy="640080"/>
          </a:xfrm>
          <a:prstGeom prst="rect">
            <a:avLst/>
          </a:prstGeom>
          <a:noFill/>
          <a:ln/>
        </p:spPr>
        <p:txBody>
          <a:bodyPr wrap="square" lIns="0" tIns="0" rIns="0" bIns="0" rtlCol="0" anchor="t"/>
          <a:lstStyle/>
          <a:p>
            <a:pPr algn="l" indent="0" marL="0">
              <a:buNone/>
            </a:pPr>
            <a:r>
              <a:rPr lang="en-US" sz="1400" b="1" dirty="0">
                <a:solidFill>
                  <a:srgbClr val="E8C97A"/>
                </a:solidFill>
                <a:latin typeface="Georgia" pitchFamily="34" charset="0"/>
                <a:ea typeface="Georgia" pitchFamily="34" charset="-122"/>
                <a:cs typeface="Georgia" pitchFamily="34" charset="-120"/>
              </a:rPr>
              <a:t>Noble Warriors</a:t>
            </a:r>
            <a:endParaRPr lang="en-US" sz="1400" dirty="0"/>
          </a:p>
        </p:txBody>
      </p:sp>
      <p:sp>
        <p:nvSpPr>
          <p:cNvPr id="21" name="Text 19"/>
          <p:cNvSpPr/>
          <p:nvPr/>
        </p:nvSpPr>
        <p:spPr>
          <a:xfrm>
            <a:off x="8229600" y="2651760"/>
            <a:ext cx="3246120" cy="274320"/>
          </a:xfrm>
          <a:prstGeom prst="rect">
            <a:avLst/>
          </a:prstGeom>
          <a:noFill/>
          <a:ln/>
        </p:spPr>
        <p:txBody>
          <a:bodyPr wrap="square" lIns="0" tIns="0" rIns="0" bIns="0" rtlCol="0" anchor="ctr"/>
          <a:lstStyle/>
          <a:p>
            <a:pPr algn="l" indent="0" marL="0">
              <a:buNone/>
            </a:pPr>
            <a:r>
              <a:rPr lang="en-US" sz="900" spc="300" kern="0" dirty="0">
                <a:solidFill>
                  <a:srgbClr val="D4A437"/>
                </a:solidFill>
                <a:latin typeface="Georgia" pitchFamily="34" charset="0"/>
                <a:ea typeface="Georgia" pitchFamily="34" charset="-122"/>
                <a:cs typeface="Georgia" pitchFamily="34" charset="-120"/>
              </a:rPr>
              <a:t>EARLY ADOPTERS</a:t>
            </a:r>
            <a:endParaRPr lang="en-US" sz="900" dirty="0"/>
          </a:p>
        </p:txBody>
      </p:sp>
      <p:sp>
        <p:nvSpPr>
          <p:cNvPr id="22" name="Text 20"/>
          <p:cNvSpPr/>
          <p:nvPr/>
        </p:nvSpPr>
        <p:spPr>
          <a:xfrm>
            <a:off x="8229600" y="2971800"/>
            <a:ext cx="3246120" cy="685800"/>
          </a:xfrm>
          <a:prstGeom prst="rect">
            <a:avLst/>
          </a:prstGeom>
          <a:noFill/>
          <a:ln/>
        </p:spPr>
        <p:txBody>
          <a:bodyPr wrap="square" lIns="0" tIns="0" rIns="0" bIns="0" rtlCol="0" anchor="t"/>
          <a:lstStyle/>
          <a:p>
            <a:pPr algn="l" indent="0" marL="0">
              <a:lnSpc>
                <a:spcPts val="1700"/>
              </a:lnSpc>
              <a:buNone/>
            </a:pPr>
            <a:r>
              <a:rPr lang="en-US" sz="1200" dirty="0">
                <a:solidFill>
                  <a:srgbClr val="EDE6CC"/>
                </a:solidFill>
                <a:latin typeface="Calibri" pitchFamily="34" charset="0"/>
                <a:ea typeface="Calibri" pitchFamily="34" charset="-122"/>
                <a:cs typeface="Calibri" pitchFamily="34" charset="-120"/>
              </a:rPr>
              <a:t>Retreats · rites of passage</a:t>
            </a:r>
            <a:endParaRPr lang="en-US" sz="1200" dirty="0"/>
          </a:p>
        </p:txBody>
      </p:sp>
      <p:sp>
        <p:nvSpPr>
          <p:cNvPr id="23" name="Text 21"/>
          <p:cNvSpPr/>
          <p:nvPr/>
        </p:nvSpPr>
        <p:spPr>
          <a:xfrm>
            <a:off x="8229600" y="3566160"/>
            <a:ext cx="3246120" cy="274320"/>
          </a:xfrm>
          <a:prstGeom prst="rect">
            <a:avLst/>
          </a:prstGeom>
          <a:noFill/>
          <a:ln/>
        </p:spPr>
        <p:txBody>
          <a:bodyPr wrap="square" lIns="0" tIns="0" rIns="0" bIns="0" rtlCol="0" anchor="ctr"/>
          <a:lstStyle/>
          <a:p>
            <a:pPr algn="l" indent="0" marL="0">
              <a:buNone/>
            </a:pPr>
            <a:r>
              <a:rPr lang="en-US" sz="1000" i="1" dirty="0">
                <a:solidFill>
                  <a:srgbClr val="B8860B"/>
                </a:solidFill>
                <a:latin typeface="Calibri" pitchFamily="34" charset="0"/>
                <a:ea typeface="Calibri" pitchFamily="34" charset="-122"/>
                <a:cs typeface="Calibri" pitchFamily="34" charset="-120"/>
              </a:rPr>
              <a:t>noblewarriors.org</a:t>
            </a:r>
            <a:endParaRPr lang="en-US" sz="1000" dirty="0"/>
          </a:p>
        </p:txBody>
      </p:sp>
      <p:sp>
        <p:nvSpPr>
          <p:cNvPr id="24" name="Shape 22"/>
          <p:cNvSpPr/>
          <p:nvPr/>
        </p:nvSpPr>
        <p:spPr>
          <a:xfrm>
            <a:off x="457200" y="4114800"/>
            <a:ext cx="3611880" cy="2103120"/>
          </a:xfrm>
          <a:prstGeom prst="rect">
            <a:avLst/>
          </a:prstGeom>
          <a:solidFill>
            <a:srgbClr val="1C1C1C"/>
          </a:solidFill>
          <a:ln w="9525">
            <a:solidFill>
              <a:srgbClr val="B8860B"/>
            </a:solidFill>
            <a:prstDash val="solid"/>
          </a:ln>
        </p:spPr>
      </p:sp>
      <p:sp>
        <p:nvSpPr>
          <p:cNvPr id="25" name="Shape 23"/>
          <p:cNvSpPr/>
          <p:nvPr/>
        </p:nvSpPr>
        <p:spPr>
          <a:xfrm>
            <a:off x="457200" y="4114800"/>
            <a:ext cx="3611880" cy="73152"/>
          </a:xfrm>
          <a:prstGeom prst="rect">
            <a:avLst/>
          </a:prstGeom>
          <a:solidFill>
            <a:srgbClr val="D4A437"/>
          </a:solidFill>
          <a:ln w="12700">
            <a:solidFill>
              <a:srgbClr val="D4A437"/>
            </a:solidFill>
            <a:prstDash val="solid"/>
          </a:ln>
        </p:spPr>
      </p:sp>
      <p:sp>
        <p:nvSpPr>
          <p:cNvPr id="26" name="Text 24"/>
          <p:cNvSpPr/>
          <p:nvPr/>
        </p:nvSpPr>
        <p:spPr>
          <a:xfrm>
            <a:off x="640080" y="4297680"/>
            <a:ext cx="3246120" cy="640080"/>
          </a:xfrm>
          <a:prstGeom prst="rect">
            <a:avLst/>
          </a:prstGeom>
          <a:noFill/>
          <a:ln/>
        </p:spPr>
        <p:txBody>
          <a:bodyPr wrap="square" lIns="0" tIns="0" rIns="0" bIns="0" rtlCol="0" anchor="t"/>
          <a:lstStyle/>
          <a:p>
            <a:pPr algn="l" indent="0" marL="0">
              <a:buNone/>
            </a:pPr>
            <a:r>
              <a:rPr lang="en-US" sz="1400" b="1" dirty="0">
                <a:solidFill>
                  <a:srgbClr val="E8C97A"/>
                </a:solidFill>
                <a:latin typeface="Georgia" pitchFamily="34" charset="0"/>
                <a:ea typeface="Georgia" pitchFamily="34" charset="-122"/>
                <a:cs typeface="Georgia" pitchFamily="34" charset="-120"/>
              </a:rPr>
              <a:t>Men of Valor International</a:t>
            </a:r>
            <a:endParaRPr lang="en-US" sz="1400" dirty="0"/>
          </a:p>
        </p:txBody>
      </p:sp>
      <p:sp>
        <p:nvSpPr>
          <p:cNvPr id="27" name="Text 25"/>
          <p:cNvSpPr/>
          <p:nvPr/>
        </p:nvSpPr>
        <p:spPr>
          <a:xfrm>
            <a:off x="640080" y="4937760"/>
            <a:ext cx="3246120" cy="274320"/>
          </a:xfrm>
          <a:prstGeom prst="rect">
            <a:avLst/>
          </a:prstGeom>
          <a:noFill/>
          <a:ln/>
        </p:spPr>
        <p:txBody>
          <a:bodyPr wrap="square" lIns="0" tIns="0" rIns="0" bIns="0" rtlCol="0" anchor="ctr"/>
          <a:lstStyle/>
          <a:p>
            <a:pPr algn="l" indent="0" marL="0">
              <a:buNone/>
            </a:pPr>
            <a:r>
              <a:rPr lang="en-US" sz="900" spc="300" kern="0" dirty="0">
                <a:solidFill>
                  <a:srgbClr val="D4A437"/>
                </a:solidFill>
                <a:latin typeface="Georgia" pitchFamily="34" charset="0"/>
                <a:ea typeface="Georgia" pitchFamily="34" charset="-122"/>
                <a:cs typeface="Georgia" pitchFamily="34" charset="-120"/>
              </a:rPr>
              <a:t>EARLY ADOPTER MULTIPLIERS</a:t>
            </a:r>
            <a:endParaRPr lang="en-US" sz="900" dirty="0"/>
          </a:p>
        </p:txBody>
      </p:sp>
      <p:sp>
        <p:nvSpPr>
          <p:cNvPr id="28" name="Text 26"/>
          <p:cNvSpPr/>
          <p:nvPr/>
        </p:nvSpPr>
        <p:spPr>
          <a:xfrm>
            <a:off x="640080" y="5257800"/>
            <a:ext cx="3246120" cy="685800"/>
          </a:xfrm>
          <a:prstGeom prst="rect">
            <a:avLst/>
          </a:prstGeom>
          <a:noFill/>
          <a:ln/>
        </p:spPr>
        <p:txBody>
          <a:bodyPr wrap="square" lIns="0" tIns="0" rIns="0" bIns="0" rtlCol="0" anchor="t"/>
          <a:lstStyle/>
          <a:p>
            <a:pPr algn="l" indent="0" marL="0">
              <a:lnSpc>
                <a:spcPts val="1700"/>
              </a:lnSpc>
              <a:buNone/>
            </a:pPr>
            <a:r>
              <a:rPr lang="en-US" sz="1200" dirty="0">
                <a:solidFill>
                  <a:srgbClr val="EDE6CC"/>
                </a:solidFill>
                <a:latin typeface="Calibri" pitchFamily="34" charset="0"/>
                <a:ea typeface="Calibri" pitchFamily="34" charset="-122"/>
                <a:cs typeface="Calibri" pitchFamily="34" charset="-120"/>
              </a:rPr>
              <a:t>Global discipleship conferences · 28 countries</a:t>
            </a:r>
            <a:endParaRPr lang="en-US" sz="1200" dirty="0"/>
          </a:p>
        </p:txBody>
      </p:sp>
      <p:sp>
        <p:nvSpPr>
          <p:cNvPr id="29" name="Text 27"/>
          <p:cNvSpPr/>
          <p:nvPr/>
        </p:nvSpPr>
        <p:spPr>
          <a:xfrm>
            <a:off x="640080" y="5852160"/>
            <a:ext cx="3246120" cy="274320"/>
          </a:xfrm>
          <a:prstGeom prst="rect">
            <a:avLst/>
          </a:prstGeom>
          <a:noFill/>
          <a:ln/>
        </p:spPr>
        <p:txBody>
          <a:bodyPr wrap="square" lIns="0" tIns="0" rIns="0" bIns="0" rtlCol="0" anchor="ctr"/>
          <a:lstStyle/>
          <a:p>
            <a:pPr algn="l" indent="0" marL="0">
              <a:buNone/>
            </a:pPr>
            <a:r>
              <a:rPr lang="en-US" sz="1000" i="1" dirty="0">
                <a:solidFill>
                  <a:srgbClr val="B8860B"/>
                </a:solidFill>
                <a:latin typeface="Calibri" pitchFamily="34" charset="0"/>
                <a:ea typeface="Calibri" pitchFamily="34" charset="-122"/>
                <a:cs typeface="Calibri" pitchFamily="34" charset="-120"/>
              </a:rPr>
              <a:t>menofvalor.org</a:t>
            </a:r>
            <a:endParaRPr lang="en-US" sz="1000" dirty="0"/>
          </a:p>
        </p:txBody>
      </p:sp>
      <p:sp>
        <p:nvSpPr>
          <p:cNvPr id="30" name="Shape 28"/>
          <p:cNvSpPr/>
          <p:nvPr/>
        </p:nvSpPr>
        <p:spPr>
          <a:xfrm>
            <a:off x="4251960" y="4114800"/>
            <a:ext cx="3611880" cy="2103120"/>
          </a:xfrm>
          <a:prstGeom prst="rect">
            <a:avLst/>
          </a:prstGeom>
          <a:solidFill>
            <a:srgbClr val="1C1C1C"/>
          </a:solidFill>
          <a:ln w="9525">
            <a:solidFill>
              <a:srgbClr val="B8860B"/>
            </a:solidFill>
            <a:prstDash val="solid"/>
          </a:ln>
        </p:spPr>
      </p:sp>
      <p:sp>
        <p:nvSpPr>
          <p:cNvPr id="31" name="Shape 29"/>
          <p:cNvSpPr/>
          <p:nvPr/>
        </p:nvSpPr>
        <p:spPr>
          <a:xfrm>
            <a:off x="4251960" y="4114800"/>
            <a:ext cx="3611880" cy="73152"/>
          </a:xfrm>
          <a:prstGeom prst="rect">
            <a:avLst/>
          </a:prstGeom>
          <a:solidFill>
            <a:srgbClr val="D4A437"/>
          </a:solidFill>
          <a:ln w="12700">
            <a:solidFill>
              <a:srgbClr val="D4A437"/>
            </a:solidFill>
            <a:prstDash val="solid"/>
          </a:ln>
        </p:spPr>
      </p:sp>
      <p:sp>
        <p:nvSpPr>
          <p:cNvPr id="32" name="Text 30"/>
          <p:cNvSpPr/>
          <p:nvPr/>
        </p:nvSpPr>
        <p:spPr>
          <a:xfrm>
            <a:off x="4434840" y="4297680"/>
            <a:ext cx="3246120" cy="640080"/>
          </a:xfrm>
          <a:prstGeom prst="rect">
            <a:avLst/>
          </a:prstGeom>
          <a:noFill/>
          <a:ln/>
        </p:spPr>
        <p:txBody>
          <a:bodyPr wrap="square" lIns="0" tIns="0" rIns="0" bIns="0" rtlCol="0" anchor="t"/>
          <a:lstStyle/>
          <a:p>
            <a:pPr algn="l" indent="0" marL="0">
              <a:buNone/>
            </a:pPr>
            <a:r>
              <a:rPr lang="en-US" sz="1400" b="1" dirty="0">
                <a:solidFill>
                  <a:srgbClr val="E8C97A"/>
                </a:solidFill>
                <a:latin typeface="Georgia" pitchFamily="34" charset="0"/>
                <a:ea typeface="Georgia" pitchFamily="34" charset="-122"/>
                <a:cs typeface="Georgia" pitchFamily="34" charset="-120"/>
              </a:rPr>
              <a:t>CBMC</a:t>
            </a:r>
            <a:endParaRPr lang="en-US" sz="1400" dirty="0"/>
          </a:p>
        </p:txBody>
      </p:sp>
      <p:sp>
        <p:nvSpPr>
          <p:cNvPr id="33" name="Text 31"/>
          <p:cNvSpPr/>
          <p:nvPr/>
        </p:nvSpPr>
        <p:spPr>
          <a:xfrm>
            <a:off x="4434840" y="4937760"/>
            <a:ext cx="3246120" cy="274320"/>
          </a:xfrm>
          <a:prstGeom prst="rect">
            <a:avLst/>
          </a:prstGeom>
          <a:noFill/>
          <a:ln/>
        </p:spPr>
        <p:txBody>
          <a:bodyPr wrap="square" lIns="0" tIns="0" rIns="0" bIns="0" rtlCol="0" anchor="ctr"/>
          <a:lstStyle/>
          <a:p>
            <a:pPr algn="l" indent="0" marL="0">
              <a:buNone/>
            </a:pPr>
            <a:r>
              <a:rPr lang="en-US" sz="900" spc="300" kern="0" dirty="0">
                <a:solidFill>
                  <a:srgbClr val="D4A437"/>
                </a:solidFill>
                <a:latin typeface="Georgia" pitchFamily="34" charset="0"/>
                <a:ea typeface="Georgia" pitchFamily="34" charset="-122"/>
                <a:cs typeface="Georgia" pitchFamily="34" charset="-120"/>
              </a:rPr>
              <a:t>EARLY MAJORITY</a:t>
            </a:r>
            <a:endParaRPr lang="en-US" sz="900" dirty="0"/>
          </a:p>
        </p:txBody>
      </p:sp>
      <p:sp>
        <p:nvSpPr>
          <p:cNvPr id="34" name="Text 32"/>
          <p:cNvSpPr/>
          <p:nvPr/>
        </p:nvSpPr>
        <p:spPr>
          <a:xfrm>
            <a:off x="4434840" y="5257800"/>
            <a:ext cx="3246120" cy="685800"/>
          </a:xfrm>
          <a:prstGeom prst="rect">
            <a:avLst/>
          </a:prstGeom>
          <a:noFill/>
          <a:ln/>
        </p:spPr>
        <p:txBody>
          <a:bodyPr wrap="square" lIns="0" tIns="0" rIns="0" bIns="0" rtlCol="0" anchor="t"/>
          <a:lstStyle/>
          <a:p>
            <a:pPr algn="l" indent="0" marL="0">
              <a:lnSpc>
                <a:spcPts val="1700"/>
              </a:lnSpc>
              <a:buNone/>
            </a:pPr>
            <a:r>
              <a:rPr lang="en-US" sz="1200" dirty="0">
                <a:solidFill>
                  <a:srgbClr val="EDE6CC"/>
                </a:solidFill>
                <a:latin typeface="Calibri" pitchFamily="34" charset="0"/>
                <a:ea typeface="Calibri" pitchFamily="34" charset="-122"/>
                <a:cs typeface="Calibri" pitchFamily="34" charset="-120"/>
              </a:rPr>
              <a:t>Marketplace discipleship · peer groups</a:t>
            </a:r>
            <a:endParaRPr lang="en-US" sz="1200" dirty="0"/>
          </a:p>
        </p:txBody>
      </p:sp>
      <p:sp>
        <p:nvSpPr>
          <p:cNvPr id="35" name="Text 33"/>
          <p:cNvSpPr/>
          <p:nvPr/>
        </p:nvSpPr>
        <p:spPr>
          <a:xfrm>
            <a:off x="4434840" y="5852160"/>
            <a:ext cx="3246120" cy="274320"/>
          </a:xfrm>
          <a:prstGeom prst="rect">
            <a:avLst/>
          </a:prstGeom>
          <a:noFill/>
          <a:ln/>
        </p:spPr>
        <p:txBody>
          <a:bodyPr wrap="square" lIns="0" tIns="0" rIns="0" bIns="0" rtlCol="0" anchor="ctr"/>
          <a:lstStyle/>
          <a:p>
            <a:pPr algn="l" indent="0" marL="0">
              <a:buNone/>
            </a:pPr>
            <a:r>
              <a:rPr lang="en-US" sz="1000" i="1" dirty="0">
                <a:solidFill>
                  <a:srgbClr val="B8860B"/>
                </a:solidFill>
                <a:latin typeface="Calibri" pitchFamily="34" charset="0"/>
                <a:ea typeface="Calibri" pitchFamily="34" charset="-122"/>
                <a:cs typeface="Calibri" pitchFamily="34" charset="-120"/>
              </a:rPr>
              <a:t>cbmc.com</a:t>
            </a:r>
            <a:endParaRPr lang="en-US" sz="1000" dirty="0"/>
          </a:p>
        </p:txBody>
      </p:sp>
      <p:sp>
        <p:nvSpPr>
          <p:cNvPr id="36" name="Shape 34"/>
          <p:cNvSpPr/>
          <p:nvPr/>
        </p:nvSpPr>
        <p:spPr>
          <a:xfrm>
            <a:off x="8046720" y="4114800"/>
            <a:ext cx="3611880" cy="2103120"/>
          </a:xfrm>
          <a:prstGeom prst="rect">
            <a:avLst/>
          </a:prstGeom>
          <a:solidFill>
            <a:srgbClr val="1C1C1C"/>
          </a:solidFill>
          <a:ln w="9525">
            <a:solidFill>
              <a:srgbClr val="B8860B"/>
            </a:solidFill>
            <a:prstDash val="solid"/>
          </a:ln>
        </p:spPr>
      </p:sp>
      <p:sp>
        <p:nvSpPr>
          <p:cNvPr id="37" name="Shape 35"/>
          <p:cNvSpPr/>
          <p:nvPr/>
        </p:nvSpPr>
        <p:spPr>
          <a:xfrm>
            <a:off x="8046720" y="4114800"/>
            <a:ext cx="3611880" cy="73152"/>
          </a:xfrm>
          <a:prstGeom prst="rect">
            <a:avLst/>
          </a:prstGeom>
          <a:solidFill>
            <a:srgbClr val="D4A437"/>
          </a:solidFill>
          <a:ln w="12700">
            <a:solidFill>
              <a:srgbClr val="D4A437"/>
            </a:solidFill>
            <a:prstDash val="solid"/>
          </a:ln>
        </p:spPr>
      </p:sp>
      <p:sp>
        <p:nvSpPr>
          <p:cNvPr id="38" name="Text 36"/>
          <p:cNvSpPr/>
          <p:nvPr/>
        </p:nvSpPr>
        <p:spPr>
          <a:xfrm>
            <a:off x="8229600" y="4297680"/>
            <a:ext cx="3246120" cy="640080"/>
          </a:xfrm>
          <a:prstGeom prst="rect">
            <a:avLst/>
          </a:prstGeom>
          <a:noFill/>
          <a:ln/>
        </p:spPr>
        <p:txBody>
          <a:bodyPr wrap="square" lIns="0" tIns="0" rIns="0" bIns="0" rtlCol="0" anchor="t"/>
          <a:lstStyle/>
          <a:p>
            <a:pPr algn="l" indent="0" marL="0">
              <a:buNone/>
            </a:pPr>
            <a:r>
              <a:rPr lang="en-US" sz="1400" b="1" dirty="0">
                <a:solidFill>
                  <a:srgbClr val="E8C97A"/>
                </a:solidFill>
                <a:latin typeface="Georgia" pitchFamily="34" charset="0"/>
                <a:ea typeface="Georgia" pitchFamily="34" charset="-122"/>
                <a:cs typeface="Georgia" pitchFamily="34" charset="-120"/>
              </a:rPr>
              <a:t>Tun Tavern Fellowship</a:t>
            </a:r>
            <a:endParaRPr lang="en-US" sz="1400" dirty="0"/>
          </a:p>
        </p:txBody>
      </p:sp>
      <p:sp>
        <p:nvSpPr>
          <p:cNvPr id="39" name="Text 37"/>
          <p:cNvSpPr/>
          <p:nvPr/>
        </p:nvSpPr>
        <p:spPr>
          <a:xfrm>
            <a:off x="8229600" y="4937760"/>
            <a:ext cx="3246120" cy="274320"/>
          </a:xfrm>
          <a:prstGeom prst="rect">
            <a:avLst/>
          </a:prstGeom>
          <a:noFill/>
          <a:ln/>
        </p:spPr>
        <p:txBody>
          <a:bodyPr wrap="square" lIns="0" tIns="0" rIns="0" bIns="0" rtlCol="0" anchor="ctr"/>
          <a:lstStyle/>
          <a:p>
            <a:pPr algn="l" indent="0" marL="0">
              <a:buNone/>
            </a:pPr>
            <a:r>
              <a:rPr lang="en-US" sz="900" spc="300" kern="0" dirty="0">
                <a:solidFill>
                  <a:srgbClr val="D4A437"/>
                </a:solidFill>
                <a:latin typeface="Georgia" pitchFamily="34" charset="0"/>
                <a:ea typeface="Georgia" pitchFamily="34" charset="-122"/>
                <a:cs typeface="Georgia" pitchFamily="34" charset="-120"/>
              </a:rPr>
              <a:t>ACTIVE &amp; PRIOR SERVICE</a:t>
            </a:r>
            <a:endParaRPr lang="en-US" sz="900" dirty="0"/>
          </a:p>
        </p:txBody>
      </p:sp>
      <p:sp>
        <p:nvSpPr>
          <p:cNvPr id="40" name="Text 38"/>
          <p:cNvSpPr/>
          <p:nvPr/>
        </p:nvSpPr>
        <p:spPr>
          <a:xfrm>
            <a:off x="8229600" y="5257800"/>
            <a:ext cx="3246120" cy="685800"/>
          </a:xfrm>
          <a:prstGeom prst="rect">
            <a:avLst/>
          </a:prstGeom>
          <a:noFill/>
          <a:ln/>
        </p:spPr>
        <p:txBody>
          <a:bodyPr wrap="square" lIns="0" tIns="0" rIns="0" bIns="0" rtlCol="0" anchor="t"/>
          <a:lstStyle/>
          <a:p>
            <a:pPr algn="l" indent="0" marL="0">
              <a:lnSpc>
                <a:spcPts val="1700"/>
              </a:lnSpc>
              <a:buNone/>
            </a:pPr>
            <a:r>
              <a:rPr lang="en-US" sz="1200" dirty="0">
                <a:solidFill>
                  <a:srgbClr val="EDE6CC"/>
                </a:solidFill>
                <a:latin typeface="Calibri" pitchFamily="34" charset="0"/>
                <a:ea typeface="Calibri" pitchFamily="34" charset="-122"/>
                <a:cs typeface="Calibri" pitchFamily="34" charset="-120"/>
              </a:rPr>
              <a:t>All-ranks Christian network across the Corps</a:t>
            </a:r>
            <a:endParaRPr lang="en-US" sz="1200" dirty="0"/>
          </a:p>
        </p:txBody>
      </p:sp>
      <p:sp>
        <p:nvSpPr>
          <p:cNvPr id="41" name="Text 39"/>
          <p:cNvSpPr/>
          <p:nvPr/>
        </p:nvSpPr>
        <p:spPr>
          <a:xfrm>
            <a:off x="8229600" y="5852160"/>
            <a:ext cx="3246120" cy="274320"/>
          </a:xfrm>
          <a:prstGeom prst="rect">
            <a:avLst/>
          </a:prstGeom>
          <a:noFill/>
          <a:ln/>
        </p:spPr>
        <p:txBody>
          <a:bodyPr wrap="square" lIns="0" tIns="0" rIns="0" bIns="0" rtlCol="0" anchor="ctr"/>
          <a:lstStyle/>
          <a:p>
            <a:pPr algn="l" indent="0" marL="0">
              <a:buNone/>
            </a:pPr>
            <a:r>
              <a:rPr lang="en-US" sz="1000" i="1" dirty="0">
                <a:solidFill>
                  <a:srgbClr val="B8860B"/>
                </a:solidFill>
                <a:latin typeface="Calibri" pitchFamily="34" charset="0"/>
                <a:ea typeface="Calibri" pitchFamily="34" charset="-122"/>
                <a:cs typeface="Calibri" pitchFamily="34" charset="-120"/>
              </a:rPr>
              <a:t>tuntavernfellowship.org</a:t>
            </a:r>
            <a:endParaRPr lang="en-US" sz="1000" dirty="0"/>
          </a:p>
        </p:txBody>
      </p:sp>
      <p:sp>
        <p:nvSpPr>
          <p:cNvPr id="42" name="Shape 40"/>
          <p:cNvSpPr/>
          <p:nvPr/>
        </p:nvSpPr>
        <p:spPr>
          <a:xfrm>
            <a:off x="457200" y="6446520"/>
            <a:ext cx="11247120" cy="16459"/>
          </a:xfrm>
          <a:prstGeom prst="rect">
            <a:avLst/>
          </a:prstGeom>
          <a:solidFill>
            <a:srgbClr val="B8860B"/>
          </a:solidFill>
          <a:ln w="12700">
            <a:solidFill>
              <a:srgbClr val="B8860B"/>
            </a:solidFill>
            <a:prstDash val="solid"/>
          </a:ln>
        </p:spPr>
      </p:sp>
      <p:sp>
        <p:nvSpPr>
          <p:cNvPr id="43" name="Text 41"/>
          <p:cNvSpPr/>
          <p:nvPr/>
        </p:nvSpPr>
        <p:spPr>
          <a:xfrm>
            <a:off x="457200" y="6510528"/>
            <a:ext cx="8229600" cy="274320"/>
          </a:xfrm>
          <a:prstGeom prst="rect">
            <a:avLst/>
          </a:prstGeom>
          <a:noFill/>
          <a:ln/>
        </p:spPr>
        <p:txBody>
          <a:bodyPr wrap="square" lIns="0" tIns="0" rIns="0" bIns="0" rtlCol="0" anchor="t"/>
          <a:lstStyle/>
          <a:p>
            <a:pPr algn="l" indent="0" marL="0">
              <a:buNone/>
            </a:pPr>
            <a:r>
              <a:rPr lang="en-US" sz="1000" dirty="0">
                <a:solidFill>
                  <a:srgbClr val="E8C97A"/>
                </a:solidFill>
                <a:latin typeface="Georgia" pitchFamily="34" charset="0"/>
                <a:ea typeface="Georgia" pitchFamily="34" charset="-122"/>
                <a:cs typeface="Georgia" pitchFamily="34" charset="-120"/>
              </a:rPr>
              <a:t>usmcmin.org</a:t>
            </a:r>
            <a:pPr algn="l" indent="0" marL="0">
              <a:buNone/>
            </a:pPr>
            <a:r>
              <a:rPr lang="en-US" sz="1000" dirty="0">
                <a:solidFill>
                  <a:srgbClr val="9F9580"/>
                </a:solidFill>
                <a:latin typeface="Georgia" pitchFamily="34" charset="0"/>
                <a:ea typeface="Georgia" pitchFamily="34" charset="-122"/>
                <a:cs typeface="Georgia" pitchFamily="34" charset="-120"/>
              </a:rPr>
              <a:t>  ·  </a:t>
            </a:r>
            <a:pPr algn="l" indent="0" marL="0">
              <a:buNone/>
            </a:pPr>
            <a:r>
              <a:rPr lang="en-US" sz="1000" i="1" dirty="0">
                <a:solidFill>
                  <a:srgbClr val="9F9580"/>
                </a:solidFill>
                <a:latin typeface="Georgia" pitchFamily="34" charset="0"/>
                <a:ea typeface="Georgia" pitchFamily="34" charset="-122"/>
                <a:cs typeface="Georgia" pitchFamily="34" charset="-120"/>
              </a:rPr>
              <a:t>“Iron sharpens iron.” — Prov. 27:17</a:t>
            </a:r>
            <a:endParaRPr lang="en-US" sz="1000" dirty="0"/>
          </a:p>
        </p:txBody>
      </p:sp>
      <p:sp>
        <p:nvSpPr>
          <p:cNvPr id="44" name="Text 42"/>
          <p:cNvSpPr/>
          <p:nvPr/>
        </p:nvSpPr>
        <p:spPr>
          <a:xfrm>
            <a:off x="10789920" y="6510528"/>
            <a:ext cx="914400" cy="274320"/>
          </a:xfrm>
          <a:prstGeom prst="rect">
            <a:avLst/>
          </a:prstGeom>
          <a:noFill/>
          <a:ln/>
        </p:spPr>
        <p:txBody>
          <a:bodyPr wrap="square" lIns="0" tIns="0" rIns="0" bIns="0" rtlCol="0" anchor="t"/>
          <a:lstStyle/>
          <a:p>
            <a:pPr algn="r" indent="0" marL="0">
              <a:buNone/>
            </a:pPr>
            <a:r>
              <a:rPr lang="en-US" sz="1000" dirty="0">
                <a:solidFill>
                  <a:srgbClr val="9F9580"/>
                </a:solidFill>
                <a:latin typeface="Georgia" pitchFamily="34" charset="0"/>
                <a:ea typeface="Georgia" pitchFamily="34" charset="-122"/>
                <a:cs typeface="Georgia" pitchFamily="34" charset="-120"/>
              </a:rPr>
              <a:t>8 / 10</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1414"/>
        </a:solidFill>
      </p:bgPr>
    </p:bg>
    <p:spTree>
      <p:nvGrpSpPr>
        <p:cNvPr id="1" name=""/>
        <p:cNvGrpSpPr/>
        <p:nvPr/>
      </p:nvGrpSpPr>
      <p:grpSpPr>
        <a:xfrm>
          <a:off x="0" y="0"/>
          <a:ext cx="0" cy="0"/>
          <a:chOff x="0" y="0"/>
          <a:chExt cx="0" cy="0"/>
        </a:xfrm>
      </p:grpSpPr>
      <p:sp>
        <p:nvSpPr>
          <p:cNvPr id="2" name="Text 0"/>
          <p:cNvSpPr/>
          <p:nvPr/>
        </p:nvSpPr>
        <p:spPr>
          <a:xfrm>
            <a:off x="457200" y="320040"/>
            <a:ext cx="8686800" cy="640080"/>
          </a:xfrm>
          <a:prstGeom prst="rect">
            <a:avLst/>
          </a:prstGeom>
          <a:noFill/>
          <a:ln/>
        </p:spPr>
        <p:txBody>
          <a:bodyPr wrap="square" lIns="0" tIns="0" rIns="0" bIns="0" rtlCol="0" anchor="ctr"/>
          <a:lstStyle/>
          <a:p>
            <a:pPr algn="l" indent="0" marL="0">
              <a:buNone/>
            </a:pPr>
            <a:r>
              <a:rPr lang="en-US" sz="2800" b="1" spc="400" kern="0" dirty="0">
                <a:solidFill>
                  <a:srgbClr val="D4A437"/>
                </a:solidFill>
                <a:latin typeface="Georgia" pitchFamily="34" charset="0"/>
                <a:ea typeface="Georgia" pitchFamily="34" charset="-122"/>
                <a:cs typeface="Georgia" pitchFamily="34" charset="-120"/>
              </a:rPr>
              <a:t>SUSTAINABILITY</a:t>
            </a:r>
            <a:endParaRPr lang="en-US" sz="2800" dirty="0"/>
          </a:p>
        </p:txBody>
      </p:sp>
      <p:sp>
        <p:nvSpPr>
          <p:cNvPr id="3" name="Text 1"/>
          <p:cNvSpPr/>
          <p:nvPr/>
        </p:nvSpPr>
        <p:spPr>
          <a:xfrm>
            <a:off x="9144000" y="320040"/>
            <a:ext cx="2560320" cy="365760"/>
          </a:xfrm>
          <a:prstGeom prst="rect">
            <a:avLst/>
          </a:prstGeom>
          <a:noFill/>
          <a:ln/>
        </p:spPr>
        <p:txBody>
          <a:bodyPr wrap="square" lIns="0" tIns="0" rIns="0" bIns="0" rtlCol="0" anchor="ctr"/>
          <a:lstStyle/>
          <a:p>
            <a:pPr algn="r" indent="0" marL="0">
              <a:buNone/>
            </a:pPr>
            <a:r>
              <a:rPr lang="en-US" sz="1100" spc="300" kern="0" dirty="0">
                <a:solidFill>
                  <a:srgbClr val="9F9580"/>
                </a:solidFill>
                <a:latin typeface="Georgia" pitchFamily="34" charset="0"/>
                <a:ea typeface="Georgia" pitchFamily="34" charset="-122"/>
                <a:cs typeface="Georgia" pitchFamily="34" charset="-120"/>
              </a:rPr>
              <a:t>U.S.M.C. MINISTRIES</a:t>
            </a:r>
            <a:endParaRPr lang="en-US" sz="1100" dirty="0"/>
          </a:p>
        </p:txBody>
      </p:sp>
      <p:sp>
        <p:nvSpPr>
          <p:cNvPr id="4" name="Shape 2"/>
          <p:cNvSpPr/>
          <p:nvPr/>
        </p:nvSpPr>
        <p:spPr>
          <a:xfrm>
            <a:off x="457200" y="1005840"/>
            <a:ext cx="11247120" cy="22860"/>
          </a:xfrm>
          <a:prstGeom prst="rect">
            <a:avLst/>
          </a:prstGeom>
          <a:solidFill>
            <a:srgbClr val="B8860B"/>
          </a:solidFill>
          <a:ln w="12700">
            <a:solidFill>
              <a:srgbClr val="B8860B"/>
            </a:solidFill>
            <a:prstDash val="solid"/>
          </a:ln>
        </p:spPr>
      </p:sp>
      <p:sp>
        <p:nvSpPr>
          <p:cNvPr id="5" name="Text 3"/>
          <p:cNvSpPr/>
          <p:nvPr/>
        </p:nvSpPr>
        <p:spPr>
          <a:xfrm>
            <a:off x="457200" y="1188720"/>
            <a:ext cx="11247120" cy="457200"/>
          </a:xfrm>
          <a:prstGeom prst="rect">
            <a:avLst/>
          </a:prstGeom>
          <a:noFill/>
          <a:ln/>
        </p:spPr>
        <p:txBody>
          <a:bodyPr wrap="square" lIns="0" tIns="0" rIns="0" bIns="0" rtlCol="0" anchor="ctr"/>
          <a:lstStyle/>
          <a:p>
            <a:pPr algn="l" indent="0" marL="0">
              <a:buNone/>
            </a:pPr>
            <a:r>
              <a:rPr lang="en-US" sz="2200" i="1" dirty="0">
                <a:solidFill>
                  <a:srgbClr val="E8C97A"/>
                </a:solidFill>
                <a:latin typeface="Georgia" pitchFamily="34" charset="0"/>
                <a:ea typeface="Georgia" pitchFamily="34" charset="-122"/>
                <a:cs typeface="Georgia" pitchFamily="34" charset="-120"/>
              </a:rPr>
              <a:t>Selective discipleship is the only sustainable model.</a:t>
            </a:r>
            <a:endParaRPr lang="en-US" sz="2200" dirty="0"/>
          </a:p>
        </p:txBody>
      </p:sp>
      <p:sp>
        <p:nvSpPr>
          <p:cNvPr id="6" name="Shape 4"/>
          <p:cNvSpPr/>
          <p:nvPr/>
        </p:nvSpPr>
        <p:spPr>
          <a:xfrm>
            <a:off x="457200" y="1874520"/>
            <a:ext cx="3611880" cy="4206240"/>
          </a:xfrm>
          <a:prstGeom prst="rect">
            <a:avLst/>
          </a:prstGeom>
          <a:solidFill>
            <a:srgbClr val="1C1C1C"/>
          </a:solidFill>
          <a:ln w="9525">
            <a:solidFill>
              <a:srgbClr val="B8860B"/>
            </a:solidFill>
            <a:prstDash val="solid"/>
          </a:ln>
        </p:spPr>
      </p:sp>
      <p:sp>
        <p:nvSpPr>
          <p:cNvPr id="7" name="Text 5"/>
          <p:cNvSpPr/>
          <p:nvPr/>
        </p:nvSpPr>
        <p:spPr>
          <a:xfrm>
            <a:off x="731520" y="2240280"/>
            <a:ext cx="3063240" cy="1188720"/>
          </a:xfrm>
          <a:prstGeom prst="rect">
            <a:avLst/>
          </a:prstGeom>
          <a:noFill/>
          <a:ln/>
        </p:spPr>
        <p:txBody>
          <a:bodyPr wrap="square" lIns="0" tIns="0" rIns="0" bIns="0" rtlCol="0" anchor="ctr"/>
          <a:lstStyle/>
          <a:p>
            <a:pPr algn="l" indent="0" marL="0">
              <a:buNone/>
            </a:pPr>
            <a:r>
              <a:rPr lang="en-US" sz="7200" b="1" dirty="0">
                <a:solidFill>
                  <a:srgbClr val="D4A437"/>
                </a:solidFill>
                <a:latin typeface="Georgia" pitchFamily="34" charset="0"/>
                <a:ea typeface="Georgia" pitchFamily="34" charset="-122"/>
                <a:cs typeface="Georgia" pitchFamily="34" charset="-120"/>
              </a:rPr>
              <a:t>01</a:t>
            </a:r>
            <a:endParaRPr lang="en-US" sz="7200" dirty="0"/>
          </a:p>
        </p:txBody>
      </p:sp>
      <p:sp>
        <p:nvSpPr>
          <p:cNvPr id="8" name="Shape 6"/>
          <p:cNvSpPr/>
          <p:nvPr/>
        </p:nvSpPr>
        <p:spPr>
          <a:xfrm>
            <a:off x="731520" y="3566160"/>
            <a:ext cx="1371600" cy="27432"/>
          </a:xfrm>
          <a:prstGeom prst="rect">
            <a:avLst/>
          </a:prstGeom>
          <a:solidFill>
            <a:srgbClr val="B8860B"/>
          </a:solidFill>
          <a:ln w="12700">
            <a:solidFill>
              <a:srgbClr val="B8860B"/>
            </a:solidFill>
            <a:prstDash val="solid"/>
          </a:ln>
        </p:spPr>
      </p:sp>
      <p:sp>
        <p:nvSpPr>
          <p:cNvPr id="9" name="Text 7"/>
          <p:cNvSpPr/>
          <p:nvPr/>
        </p:nvSpPr>
        <p:spPr>
          <a:xfrm>
            <a:off x="731520" y="3703320"/>
            <a:ext cx="3063240" cy="640080"/>
          </a:xfrm>
          <a:prstGeom prst="rect">
            <a:avLst/>
          </a:prstGeom>
          <a:noFill/>
          <a:ln/>
        </p:spPr>
        <p:txBody>
          <a:bodyPr wrap="square" lIns="0" tIns="0" rIns="0" bIns="0" rtlCol="0" anchor="t"/>
          <a:lstStyle/>
          <a:p>
            <a:pPr algn="l" indent="0" marL="0">
              <a:buNone/>
            </a:pPr>
            <a:r>
              <a:rPr lang="en-US" sz="1900" b="1" dirty="0">
                <a:solidFill>
                  <a:srgbClr val="E8C97A"/>
                </a:solidFill>
                <a:latin typeface="Georgia" pitchFamily="34" charset="0"/>
                <a:ea typeface="Georgia" pitchFamily="34" charset="-122"/>
                <a:cs typeface="Georgia" pitchFamily="34" charset="-120"/>
              </a:rPr>
              <a:t>Steward Energy</a:t>
            </a:r>
            <a:endParaRPr lang="en-US" sz="1900" dirty="0"/>
          </a:p>
        </p:txBody>
      </p:sp>
      <p:sp>
        <p:nvSpPr>
          <p:cNvPr id="10" name="Text 8"/>
          <p:cNvSpPr/>
          <p:nvPr/>
        </p:nvSpPr>
        <p:spPr>
          <a:xfrm>
            <a:off x="731520" y="4434840"/>
            <a:ext cx="3063240" cy="1463040"/>
          </a:xfrm>
          <a:prstGeom prst="rect">
            <a:avLst/>
          </a:prstGeom>
          <a:noFill/>
          <a:ln/>
        </p:spPr>
        <p:txBody>
          <a:bodyPr wrap="square" lIns="0" tIns="0" rIns="0" bIns="0" rtlCol="0" anchor="t"/>
          <a:lstStyle/>
          <a:p>
            <a:pPr algn="l" indent="0" marL="0">
              <a:lnSpc>
                <a:spcPts val="2000"/>
              </a:lnSpc>
              <a:buNone/>
            </a:pPr>
            <a:r>
              <a:rPr lang="en-US" sz="1300" dirty="0">
                <a:solidFill>
                  <a:srgbClr val="EDE6CC"/>
                </a:solidFill>
                <a:latin typeface="Calibri" pitchFamily="34" charset="0"/>
                <a:ea typeface="Calibri" pitchFamily="34" charset="-122"/>
                <a:cs typeface="Calibri" pitchFamily="34" charset="-120"/>
              </a:rPr>
              <a:t>Pouring program hours into resistant soil exhausts leaders and produces little fruit. Matthew 13 already predicts the yield differential.</a:t>
            </a:r>
            <a:endParaRPr lang="en-US" sz="1300" dirty="0"/>
          </a:p>
        </p:txBody>
      </p:sp>
      <p:sp>
        <p:nvSpPr>
          <p:cNvPr id="11" name="Shape 9"/>
          <p:cNvSpPr/>
          <p:nvPr/>
        </p:nvSpPr>
        <p:spPr>
          <a:xfrm>
            <a:off x="4251960" y="1874520"/>
            <a:ext cx="3611880" cy="4206240"/>
          </a:xfrm>
          <a:prstGeom prst="rect">
            <a:avLst/>
          </a:prstGeom>
          <a:solidFill>
            <a:srgbClr val="1C1C1C"/>
          </a:solidFill>
          <a:ln w="9525">
            <a:solidFill>
              <a:srgbClr val="B8860B"/>
            </a:solidFill>
            <a:prstDash val="solid"/>
          </a:ln>
        </p:spPr>
      </p:sp>
      <p:sp>
        <p:nvSpPr>
          <p:cNvPr id="12" name="Text 10"/>
          <p:cNvSpPr/>
          <p:nvPr/>
        </p:nvSpPr>
        <p:spPr>
          <a:xfrm>
            <a:off x="4526280" y="2240280"/>
            <a:ext cx="3063240" cy="1188720"/>
          </a:xfrm>
          <a:prstGeom prst="rect">
            <a:avLst/>
          </a:prstGeom>
          <a:noFill/>
          <a:ln/>
        </p:spPr>
        <p:txBody>
          <a:bodyPr wrap="square" lIns="0" tIns="0" rIns="0" bIns="0" rtlCol="0" anchor="ctr"/>
          <a:lstStyle/>
          <a:p>
            <a:pPr algn="l" indent="0" marL="0">
              <a:buNone/>
            </a:pPr>
            <a:r>
              <a:rPr lang="en-US" sz="7200" b="1" dirty="0">
                <a:solidFill>
                  <a:srgbClr val="D4A437"/>
                </a:solidFill>
                <a:latin typeface="Georgia" pitchFamily="34" charset="0"/>
                <a:ea typeface="Georgia" pitchFamily="34" charset="-122"/>
                <a:cs typeface="Georgia" pitchFamily="34" charset="-120"/>
              </a:rPr>
              <a:t>02</a:t>
            </a:r>
            <a:endParaRPr lang="en-US" sz="7200" dirty="0"/>
          </a:p>
        </p:txBody>
      </p:sp>
      <p:sp>
        <p:nvSpPr>
          <p:cNvPr id="13" name="Shape 11"/>
          <p:cNvSpPr/>
          <p:nvPr/>
        </p:nvSpPr>
        <p:spPr>
          <a:xfrm>
            <a:off x="4526280" y="3566160"/>
            <a:ext cx="1371600" cy="27432"/>
          </a:xfrm>
          <a:prstGeom prst="rect">
            <a:avLst/>
          </a:prstGeom>
          <a:solidFill>
            <a:srgbClr val="B8860B"/>
          </a:solidFill>
          <a:ln w="12700">
            <a:solidFill>
              <a:srgbClr val="B8860B"/>
            </a:solidFill>
            <a:prstDash val="solid"/>
          </a:ln>
        </p:spPr>
      </p:sp>
      <p:sp>
        <p:nvSpPr>
          <p:cNvPr id="14" name="Text 12"/>
          <p:cNvSpPr/>
          <p:nvPr/>
        </p:nvSpPr>
        <p:spPr>
          <a:xfrm>
            <a:off x="4526280" y="3703320"/>
            <a:ext cx="3063240" cy="640080"/>
          </a:xfrm>
          <a:prstGeom prst="rect">
            <a:avLst/>
          </a:prstGeom>
          <a:noFill/>
          <a:ln/>
        </p:spPr>
        <p:txBody>
          <a:bodyPr wrap="square" lIns="0" tIns="0" rIns="0" bIns="0" rtlCol="0" anchor="t"/>
          <a:lstStyle/>
          <a:p>
            <a:pPr algn="l" indent="0" marL="0">
              <a:buNone/>
            </a:pPr>
            <a:r>
              <a:rPr lang="en-US" sz="1900" b="1" dirty="0">
                <a:solidFill>
                  <a:srgbClr val="E8C97A"/>
                </a:solidFill>
                <a:latin typeface="Georgia" pitchFamily="34" charset="0"/>
                <a:ea typeface="Georgia" pitchFamily="34" charset="-122"/>
                <a:cs typeface="Georgia" pitchFamily="34" charset="-120"/>
              </a:rPr>
              <a:t>Compound Through Multipliers</a:t>
            </a:r>
            <a:endParaRPr lang="en-US" sz="1900" dirty="0"/>
          </a:p>
        </p:txBody>
      </p:sp>
      <p:sp>
        <p:nvSpPr>
          <p:cNvPr id="15" name="Text 13"/>
          <p:cNvSpPr/>
          <p:nvPr/>
        </p:nvSpPr>
        <p:spPr>
          <a:xfrm>
            <a:off x="4526280" y="4434840"/>
            <a:ext cx="3063240" cy="1463040"/>
          </a:xfrm>
          <a:prstGeom prst="rect">
            <a:avLst/>
          </a:prstGeom>
          <a:noFill/>
          <a:ln/>
        </p:spPr>
        <p:txBody>
          <a:bodyPr wrap="square" lIns="0" tIns="0" rIns="0" bIns="0" rtlCol="0" anchor="t"/>
          <a:lstStyle/>
          <a:p>
            <a:pPr algn="l" indent="0" marL="0">
              <a:lnSpc>
                <a:spcPts val="2000"/>
              </a:lnSpc>
              <a:buNone/>
            </a:pPr>
            <a:r>
              <a:rPr lang="en-US" sz="1300" dirty="0">
                <a:solidFill>
                  <a:srgbClr val="EDE6CC"/>
                </a:solidFill>
                <a:latin typeface="Calibri" pitchFamily="34" charset="0"/>
                <a:ea typeface="Calibri" pitchFamily="34" charset="-122"/>
                <a:cs typeface="Calibri" pitchFamily="34" charset="-120"/>
              </a:rPr>
              <a:t>Two faithful men reproducing yearly outpace one-time mass enrollment within three cycles. The 2 Timothy 2:2 chain compounds.</a:t>
            </a:r>
            <a:endParaRPr lang="en-US" sz="1300" dirty="0"/>
          </a:p>
        </p:txBody>
      </p:sp>
      <p:sp>
        <p:nvSpPr>
          <p:cNvPr id="16" name="Shape 14"/>
          <p:cNvSpPr/>
          <p:nvPr/>
        </p:nvSpPr>
        <p:spPr>
          <a:xfrm>
            <a:off x="8046720" y="1874520"/>
            <a:ext cx="3611880" cy="4206240"/>
          </a:xfrm>
          <a:prstGeom prst="rect">
            <a:avLst/>
          </a:prstGeom>
          <a:solidFill>
            <a:srgbClr val="1C1C1C"/>
          </a:solidFill>
          <a:ln w="9525">
            <a:solidFill>
              <a:srgbClr val="B8860B"/>
            </a:solidFill>
            <a:prstDash val="solid"/>
          </a:ln>
        </p:spPr>
      </p:sp>
      <p:sp>
        <p:nvSpPr>
          <p:cNvPr id="17" name="Text 15"/>
          <p:cNvSpPr/>
          <p:nvPr/>
        </p:nvSpPr>
        <p:spPr>
          <a:xfrm>
            <a:off x="8321040" y="2240280"/>
            <a:ext cx="3063240" cy="1188720"/>
          </a:xfrm>
          <a:prstGeom prst="rect">
            <a:avLst/>
          </a:prstGeom>
          <a:noFill/>
          <a:ln/>
        </p:spPr>
        <p:txBody>
          <a:bodyPr wrap="square" lIns="0" tIns="0" rIns="0" bIns="0" rtlCol="0" anchor="ctr"/>
          <a:lstStyle/>
          <a:p>
            <a:pPr algn="l" indent="0" marL="0">
              <a:buNone/>
            </a:pPr>
            <a:r>
              <a:rPr lang="en-US" sz="7200" b="1" dirty="0">
                <a:solidFill>
                  <a:srgbClr val="D4A437"/>
                </a:solidFill>
                <a:latin typeface="Georgia" pitchFamily="34" charset="0"/>
                <a:ea typeface="Georgia" pitchFamily="34" charset="-122"/>
                <a:cs typeface="Georgia" pitchFamily="34" charset="-120"/>
              </a:rPr>
              <a:t>03</a:t>
            </a:r>
            <a:endParaRPr lang="en-US" sz="7200" dirty="0"/>
          </a:p>
        </p:txBody>
      </p:sp>
      <p:sp>
        <p:nvSpPr>
          <p:cNvPr id="18" name="Shape 16"/>
          <p:cNvSpPr/>
          <p:nvPr/>
        </p:nvSpPr>
        <p:spPr>
          <a:xfrm>
            <a:off x="8321040" y="3566160"/>
            <a:ext cx="1371600" cy="27432"/>
          </a:xfrm>
          <a:prstGeom prst="rect">
            <a:avLst/>
          </a:prstGeom>
          <a:solidFill>
            <a:srgbClr val="B8860B"/>
          </a:solidFill>
          <a:ln w="12700">
            <a:solidFill>
              <a:srgbClr val="B8860B"/>
            </a:solidFill>
            <a:prstDash val="solid"/>
          </a:ln>
        </p:spPr>
      </p:sp>
      <p:sp>
        <p:nvSpPr>
          <p:cNvPr id="19" name="Text 17"/>
          <p:cNvSpPr/>
          <p:nvPr/>
        </p:nvSpPr>
        <p:spPr>
          <a:xfrm>
            <a:off x="8321040" y="3703320"/>
            <a:ext cx="3063240" cy="640080"/>
          </a:xfrm>
          <a:prstGeom prst="rect">
            <a:avLst/>
          </a:prstGeom>
          <a:noFill/>
          <a:ln/>
        </p:spPr>
        <p:txBody>
          <a:bodyPr wrap="square" lIns="0" tIns="0" rIns="0" bIns="0" rtlCol="0" anchor="t"/>
          <a:lstStyle/>
          <a:p>
            <a:pPr algn="l" indent="0" marL="0">
              <a:buNone/>
            </a:pPr>
            <a:r>
              <a:rPr lang="en-US" sz="1900" b="1" dirty="0">
                <a:solidFill>
                  <a:srgbClr val="E8C97A"/>
                </a:solidFill>
                <a:latin typeface="Georgia" pitchFamily="34" charset="0"/>
                <a:ea typeface="Georgia" pitchFamily="34" charset="-122"/>
                <a:cs typeface="Georgia" pitchFamily="34" charset="-120"/>
              </a:rPr>
              <a:t>Protect the Edge</a:t>
            </a:r>
            <a:endParaRPr lang="en-US" sz="1900" dirty="0"/>
          </a:p>
        </p:txBody>
      </p:sp>
      <p:sp>
        <p:nvSpPr>
          <p:cNvPr id="20" name="Text 18"/>
          <p:cNvSpPr/>
          <p:nvPr/>
        </p:nvSpPr>
        <p:spPr>
          <a:xfrm>
            <a:off x="8321040" y="4434840"/>
            <a:ext cx="3063240" cy="1463040"/>
          </a:xfrm>
          <a:prstGeom prst="rect">
            <a:avLst/>
          </a:prstGeom>
          <a:noFill/>
          <a:ln/>
        </p:spPr>
        <p:txBody>
          <a:bodyPr wrap="square" lIns="0" tIns="0" rIns="0" bIns="0" rtlCol="0" anchor="t"/>
          <a:lstStyle/>
          <a:p>
            <a:pPr algn="l" indent="0" marL="0">
              <a:lnSpc>
                <a:spcPts val="2000"/>
              </a:lnSpc>
              <a:buNone/>
            </a:pPr>
            <a:r>
              <a:rPr lang="en-US" sz="1300" dirty="0">
                <a:solidFill>
                  <a:srgbClr val="EDE6CC"/>
                </a:solidFill>
                <a:latin typeface="Calibri" pitchFamily="34" charset="0"/>
                <a:ea typeface="Calibri" pitchFamily="34" charset="-122"/>
                <a:cs typeface="Calibri" pitchFamily="34" charset="-120"/>
              </a:rPr>
              <a:t>Programs softened for the late majority lose the calling that drew the innovators. The network of ministries distributes the load so no single work has to be all things to all men.</a:t>
            </a:r>
            <a:endParaRPr lang="en-US" sz="1300" dirty="0"/>
          </a:p>
        </p:txBody>
      </p:sp>
      <p:sp>
        <p:nvSpPr>
          <p:cNvPr id="21" name="Shape 19"/>
          <p:cNvSpPr/>
          <p:nvPr/>
        </p:nvSpPr>
        <p:spPr>
          <a:xfrm>
            <a:off x="457200" y="6446520"/>
            <a:ext cx="11247120" cy="16459"/>
          </a:xfrm>
          <a:prstGeom prst="rect">
            <a:avLst/>
          </a:prstGeom>
          <a:solidFill>
            <a:srgbClr val="B8860B"/>
          </a:solidFill>
          <a:ln w="12700">
            <a:solidFill>
              <a:srgbClr val="B8860B"/>
            </a:solidFill>
            <a:prstDash val="solid"/>
          </a:ln>
        </p:spPr>
      </p:sp>
      <p:sp>
        <p:nvSpPr>
          <p:cNvPr id="22" name="Text 20"/>
          <p:cNvSpPr/>
          <p:nvPr/>
        </p:nvSpPr>
        <p:spPr>
          <a:xfrm>
            <a:off x="457200" y="6510528"/>
            <a:ext cx="8229600" cy="274320"/>
          </a:xfrm>
          <a:prstGeom prst="rect">
            <a:avLst/>
          </a:prstGeom>
          <a:noFill/>
          <a:ln/>
        </p:spPr>
        <p:txBody>
          <a:bodyPr wrap="square" lIns="0" tIns="0" rIns="0" bIns="0" rtlCol="0" anchor="t"/>
          <a:lstStyle/>
          <a:p>
            <a:pPr algn="l" indent="0" marL="0">
              <a:buNone/>
            </a:pPr>
            <a:r>
              <a:rPr lang="en-US" sz="1000" dirty="0">
                <a:solidFill>
                  <a:srgbClr val="E8C97A"/>
                </a:solidFill>
                <a:latin typeface="Georgia" pitchFamily="34" charset="0"/>
                <a:ea typeface="Georgia" pitchFamily="34" charset="-122"/>
                <a:cs typeface="Georgia" pitchFamily="34" charset="-120"/>
              </a:rPr>
              <a:t>usmcmin.org</a:t>
            </a:r>
            <a:pPr algn="l" indent="0" marL="0">
              <a:buNone/>
            </a:pPr>
            <a:r>
              <a:rPr lang="en-US" sz="1000" dirty="0">
                <a:solidFill>
                  <a:srgbClr val="9F9580"/>
                </a:solidFill>
                <a:latin typeface="Georgia" pitchFamily="34" charset="0"/>
                <a:ea typeface="Georgia" pitchFamily="34" charset="-122"/>
                <a:cs typeface="Georgia" pitchFamily="34" charset="-120"/>
              </a:rPr>
              <a:t>  ·  </a:t>
            </a:r>
            <a:pPr algn="l" indent="0" marL="0">
              <a:buNone/>
            </a:pPr>
            <a:r>
              <a:rPr lang="en-US" sz="1000" i="1" dirty="0">
                <a:solidFill>
                  <a:srgbClr val="9F9580"/>
                </a:solidFill>
                <a:latin typeface="Georgia" pitchFamily="34" charset="0"/>
                <a:ea typeface="Georgia" pitchFamily="34" charset="-122"/>
                <a:cs typeface="Georgia" pitchFamily="34" charset="-120"/>
              </a:rPr>
              <a:t>“Iron sharpens iron.” — Prov. 27:17</a:t>
            </a:r>
            <a:endParaRPr lang="en-US" sz="1000" dirty="0"/>
          </a:p>
        </p:txBody>
      </p:sp>
      <p:sp>
        <p:nvSpPr>
          <p:cNvPr id="23" name="Text 21"/>
          <p:cNvSpPr/>
          <p:nvPr/>
        </p:nvSpPr>
        <p:spPr>
          <a:xfrm>
            <a:off x="10789920" y="6510528"/>
            <a:ext cx="914400" cy="274320"/>
          </a:xfrm>
          <a:prstGeom prst="rect">
            <a:avLst/>
          </a:prstGeom>
          <a:noFill/>
          <a:ln/>
        </p:spPr>
        <p:txBody>
          <a:bodyPr wrap="square" lIns="0" tIns="0" rIns="0" bIns="0" rtlCol="0" anchor="t"/>
          <a:lstStyle/>
          <a:p>
            <a:pPr algn="r" indent="0" marL="0">
              <a:buNone/>
            </a:pPr>
            <a:r>
              <a:rPr lang="en-US" sz="1000" dirty="0">
                <a:solidFill>
                  <a:srgbClr val="9F9580"/>
                </a:solidFill>
                <a:latin typeface="Georgia" pitchFamily="34" charset="0"/>
                <a:ea typeface="Georgia" pitchFamily="34" charset="-122"/>
                <a:cs typeface="Georgia" pitchFamily="34" charset="-120"/>
              </a:rPr>
              <a:t>9 / 10</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0A0A"/>
        </a:solidFill>
      </p:bgPr>
    </p:bg>
    <p:spTree>
      <p:nvGrpSpPr>
        <p:cNvPr id="1" name=""/>
        <p:cNvGrpSpPr/>
        <p:nvPr/>
      </p:nvGrpSpPr>
      <p:grpSpPr>
        <a:xfrm>
          <a:off x="0" y="0"/>
          <a:ext cx="0" cy="0"/>
          <a:chOff x="0" y="0"/>
          <a:chExt cx="0" cy="0"/>
        </a:xfrm>
      </p:grpSpPr>
      <p:sp>
        <p:nvSpPr>
          <p:cNvPr id="2" name="Text 0"/>
          <p:cNvSpPr/>
          <p:nvPr/>
        </p:nvSpPr>
        <p:spPr>
          <a:xfrm>
            <a:off x="457200" y="320040"/>
            <a:ext cx="8686800" cy="640080"/>
          </a:xfrm>
          <a:prstGeom prst="rect">
            <a:avLst/>
          </a:prstGeom>
          <a:noFill/>
          <a:ln/>
        </p:spPr>
        <p:txBody>
          <a:bodyPr wrap="square" lIns="0" tIns="0" rIns="0" bIns="0" rtlCol="0" anchor="ctr"/>
          <a:lstStyle/>
          <a:p>
            <a:pPr algn="l" indent="0" marL="0">
              <a:buNone/>
            </a:pPr>
            <a:r>
              <a:rPr lang="en-US" sz="2800" b="1" spc="400" kern="0" dirty="0">
                <a:solidFill>
                  <a:srgbClr val="D4A437"/>
                </a:solidFill>
                <a:latin typeface="Georgia" pitchFamily="34" charset="0"/>
                <a:ea typeface="Georgia" pitchFamily="34" charset="-122"/>
                <a:cs typeface="Georgia" pitchFamily="34" charset="-120"/>
              </a:rPr>
              <a:t>TAKEAWAYS FOR LEADERS</a:t>
            </a:r>
            <a:endParaRPr lang="en-US" sz="2800" dirty="0"/>
          </a:p>
        </p:txBody>
      </p:sp>
      <p:sp>
        <p:nvSpPr>
          <p:cNvPr id="3" name="Text 1"/>
          <p:cNvSpPr/>
          <p:nvPr/>
        </p:nvSpPr>
        <p:spPr>
          <a:xfrm>
            <a:off x="9144000" y="320040"/>
            <a:ext cx="2560320" cy="365760"/>
          </a:xfrm>
          <a:prstGeom prst="rect">
            <a:avLst/>
          </a:prstGeom>
          <a:noFill/>
          <a:ln/>
        </p:spPr>
        <p:txBody>
          <a:bodyPr wrap="square" lIns="0" tIns="0" rIns="0" bIns="0" rtlCol="0" anchor="ctr"/>
          <a:lstStyle/>
          <a:p>
            <a:pPr algn="r" indent="0" marL="0">
              <a:buNone/>
            </a:pPr>
            <a:r>
              <a:rPr lang="en-US" sz="1100" spc="300" kern="0" dirty="0">
                <a:solidFill>
                  <a:srgbClr val="9F9580"/>
                </a:solidFill>
                <a:latin typeface="Georgia" pitchFamily="34" charset="0"/>
                <a:ea typeface="Georgia" pitchFamily="34" charset="-122"/>
                <a:cs typeface="Georgia" pitchFamily="34" charset="-120"/>
              </a:rPr>
              <a:t>U.S.M.C. MINISTRIES</a:t>
            </a:r>
            <a:endParaRPr lang="en-US" sz="1100" dirty="0"/>
          </a:p>
        </p:txBody>
      </p:sp>
      <p:sp>
        <p:nvSpPr>
          <p:cNvPr id="4" name="Shape 2"/>
          <p:cNvSpPr/>
          <p:nvPr/>
        </p:nvSpPr>
        <p:spPr>
          <a:xfrm>
            <a:off x="457200" y="1005840"/>
            <a:ext cx="11247120" cy="22860"/>
          </a:xfrm>
          <a:prstGeom prst="rect">
            <a:avLst/>
          </a:prstGeom>
          <a:solidFill>
            <a:srgbClr val="B8860B"/>
          </a:solidFill>
          <a:ln w="12700">
            <a:solidFill>
              <a:srgbClr val="B8860B"/>
            </a:solidFill>
            <a:prstDash val="solid"/>
          </a:ln>
        </p:spPr>
      </p:sp>
      <p:sp>
        <p:nvSpPr>
          <p:cNvPr id="5" name="Shape 3"/>
          <p:cNvSpPr/>
          <p:nvPr/>
        </p:nvSpPr>
        <p:spPr>
          <a:xfrm>
            <a:off x="640080" y="1463040"/>
            <a:ext cx="457200" cy="457200"/>
          </a:xfrm>
          <a:prstGeom prst="ellipse">
            <a:avLst/>
          </a:prstGeom>
          <a:solidFill>
            <a:srgbClr val="B8860B"/>
          </a:solidFill>
          <a:ln w="12700">
            <a:solidFill>
              <a:srgbClr val="D4A437"/>
            </a:solidFill>
            <a:prstDash val="solid"/>
          </a:ln>
        </p:spPr>
      </p:sp>
      <p:sp>
        <p:nvSpPr>
          <p:cNvPr id="6" name="Text 4"/>
          <p:cNvSpPr/>
          <p:nvPr/>
        </p:nvSpPr>
        <p:spPr>
          <a:xfrm>
            <a:off x="640080" y="14630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7" name="Text 5"/>
          <p:cNvSpPr/>
          <p:nvPr/>
        </p:nvSpPr>
        <p:spPr>
          <a:xfrm>
            <a:off x="1280160" y="1325880"/>
            <a:ext cx="10424160" cy="411480"/>
          </a:xfrm>
          <a:prstGeom prst="rect">
            <a:avLst/>
          </a:prstGeom>
          <a:noFill/>
          <a:ln/>
        </p:spPr>
        <p:txBody>
          <a:bodyPr wrap="square" lIns="0" tIns="0" rIns="0" bIns="0" rtlCol="0" anchor="ctr"/>
          <a:lstStyle/>
          <a:p>
            <a:pPr algn="l" indent="0" marL="0">
              <a:buNone/>
            </a:pPr>
            <a:r>
              <a:rPr lang="en-US" sz="1700" b="1" dirty="0">
                <a:solidFill>
                  <a:srgbClr val="E8C97A"/>
                </a:solidFill>
                <a:latin typeface="Georgia" pitchFamily="34" charset="0"/>
                <a:ea typeface="Georgia" pitchFamily="34" charset="-122"/>
                <a:cs typeface="Georgia" pitchFamily="34" charset="-120"/>
              </a:rPr>
              <a:t>Stop apologizing for a small cohort.</a:t>
            </a:r>
            <a:endParaRPr lang="en-US" sz="1700" dirty="0"/>
          </a:p>
        </p:txBody>
      </p:sp>
      <p:sp>
        <p:nvSpPr>
          <p:cNvPr id="8" name="Text 6"/>
          <p:cNvSpPr/>
          <p:nvPr/>
        </p:nvSpPr>
        <p:spPr>
          <a:xfrm>
            <a:off x="1280160" y="1737360"/>
            <a:ext cx="10424160" cy="365760"/>
          </a:xfrm>
          <a:prstGeom prst="rect">
            <a:avLst/>
          </a:prstGeom>
          <a:noFill/>
          <a:ln/>
        </p:spPr>
        <p:txBody>
          <a:bodyPr wrap="square" lIns="0" tIns="0" rIns="0" bIns="0" rtlCol="0" anchor="t"/>
          <a:lstStyle/>
          <a:p>
            <a:pPr algn="l" indent="0" marL="0">
              <a:buNone/>
            </a:pPr>
            <a:r>
              <a:rPr lang="en-US" sz="1300" dirty="0">
                <a:solidFill>
                  <a:srgbClr val="EDE6CC"/>
                </a:solidFill>
                <a:latin typeface="Calibri" pitchFamily="34" charset="0"/>
                <a:ea typeface="Calibri" pitchFamily="34" charset="-122"/>
                <a:cs typeface="Calibri" pitchFamily="34" charset="-120"/>
              </a:rPr>
              <a:t>Twelve was Christ’s number for a reason.</a:t>
            </a:r>
            <a:endParaRPr lang="en-US" sz="1300" dirty="0"/>
          </a:p>
        </p:txBody>
      </p:sp>
      <p:sp>
        <p:nvSpPr>
          <p:cNvPr id="9" name="Shape 7"/>
          <p:cNvSpPr/>
          <p:nvPr/>
        </p:nvSpPr>
        <p:spPr>
          <a:xfrm>
            <a:off x="640080" y="2377440"/>
            <a:ext cx="457200" cy="457200"/>
          </a:xfrm>
          <a:prstGeom prst="ellipse">
            <a:avLst/>
          </a:prstGeom>
          <a:solidFill>
            <a:srgbClr val="B8860B"/>
          </a:solidFill>
          <a:ln w="12700">
            <a:solidFill>
              <a:srgbClr val="D4A437"/>
            </a:solidFill>
            <a:prstDash val="solid"/>
          </a:ln>
        </p:spPr>
      </p:sp>
      <p:sp>
        <p:nvSpPr>
          <p:cNvPr id="10" name="Text 8"/>
          <p:cNvSpPr/>
          <p:nvPr/>
        </p:nvSpPr>
        <p:spPr>
          <a:xfrm>
            <a:off x="640080" y="23774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1" name="Text 9"/>
          <p:cNvSpPr/>
          <p:nvPr/>
        </p:nvSpPr>
        <p:spPr>
          <a:xfrm>
            <a:off x="1280160" y="2240280"/>
            <a:ext cx="10424160" cy="411480"/>
          </a:xfrm>
          <a:prstGeom prst="rect">
            <a:avLst/>
          </a:prstGeom>
          <a:noFill/>
          <a:ln/>
        </p:spPr>
        <p:txBody>
          <a:bodyPr wrap="square" lIns="0" tIns="0" rIns="0" bIns="0" rtlCol="0" anchor="ctr"/>
          <a:lstStyle/>
          <a:p>
            <a:pPr algn="l" indent="0" marL="0">
              <a:buNone/>
            </a:pPr>
            <a:r>
              <a:rPr lang="en-US" sz="1700" b="1" dirty="0">
                <a:solidFill>
                  <a:srgbClr val="E8C97A"/>
                </a:solidFill>
                <a:latin typeface="Georgia" pitchFamily="34" charset="0"/>
                <a:ea typeface="Georgia" pitchFamily="34" charset="-122"/>
                <a:cs typeface="Georgia" pitchFamily="34" charset="-120"/>
              </a:rPr>
              <a:t>Use filtering language in promotion.</a:t>
            </a:r>
            <a:endParaRPr lang="en-US" sz="1700" dirty="0"/>
          </a:p>
        </p:txBody>
      </p:sp>
      <p:sp>
        <p:nvSpPr>
          <p:cNvPr id="12" name="Text 10"/>
          <p:cNvSpPr/>
          <p:nvPr/>
        </p:nvSpPr>
        <p:spPr>
          <a:xfrm>
            <a:off x="1280160" y="2651760"/>
            <a:ext cx="10424160" cy="365760"/>
          </a:xfrm>
          <a:prstGeom prst="rect">
            <a:avLst/>
          </a:prstGeom>
          <a:noFill/>
          <a:ln/>
        </p:spPr>
        <p:txBody>
          <a:bodyPr wrap="square" lIns="0" tIns="0" rIns="0" bIns="0" rtlCol="0" anchor="t"/>
          <a:lstStyle/>
          <a:p>
            <a:pPr algn="l" indent="0" marL="0">
              <a:buNone/>
            </a:pPr>
            <a:r>
              <a:rPr lang="en-US" sz="1300" dirty="0">
                <a:solidFill>
                  <a:srgbClr val="EDE6CC"/>
                </a:solidFill>
                <a:latin typeface="Calibri" pitchFamily="34" charset="0"/>
                <a:ea typeface="Calibri" pitchFamily="34" charset="-122"/>
                <a:cs typeface="Calibri" pitchFamily="34" charset="-120"/>
              </a:rPr>
              <a:t>Make the program self-selecting on the front end.</a:t>
            </a:r>
            <a:endParaRPr lang="en-US" sz="1300" dirty="0"/>
          </a:p>
        </p:txBody>
      </p:sp>
      <p:sp>
        <p:nvSpPr>
          <p:cNvPr id="13" name="Shape 11"/>
          <p:cNvSpPr/>
          <p:nvPr/>
        </p:nvSpPr>
        <p:spPr>
          <a:xfrm>
            <a:off x="640080" y="3291840"/>
            <a:ext cx="457200" cy="457200"/>
          </a:xfrm>
          <a:prstGeom prst="ellipse">
            <a:avLst/>
          </a:prstGeom>
          <a:solidFill>
            <a:srgbClr val="B8860B"/>
          </a:solidFill>
          <a:ln w="12700">
            <a:solidFill>
              <a:srgbClr val="D4A437"/>
            </a:solidFill>
            <a:prstDash val="solid"/>
          </a:ln>
        </p:spPr>
      </p:sp>
      <p:sp>
        <p:nvSpPr>
          <p:cNvPr id="14" name="Text 12"/>
          <p:cNvSpPr/>
          <p:nvPr/>
        </p:nvSpPr>
        <p:spPr>
          <a:xfrm>
            <a:off x="640080" y="32918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5" name="Text 13"/>
          <p:cNvSpPr/>
          <p:nvPr/>
        </p:nvSpPr>
        <p:spPr>
          <a:xfrm>
            <a:off x="1280160" y="3154680"/>
            <a:ext cx="10424160" cy="411480"/>
          </a:xfrm>
          <a:prstGeom prst="rect">
            <a:avLst/>
          </a:prstGeom>
          <a:noFill/>
          <a:ln/>
        </p:spPr>
        <p:txBody>
          <a:bodyPr wrap="square" lIns="0" tIns="0" rIns="0" bIns="0" rtlCol="0" anchor="ctr"/>
          <a:lstStyle/>
          <a:p>
            <a:pPr algn="l" indent="0" marL="0">
              <a:buNone/>
            </a:pPr>
            <a:r>
              <a:rPr lang="en-US" sz="1700" b="1" dirty="0">
                <a:solidFill>
                  <a:srgbClr val="E8C97A"/>
                </a:solidFill>
                <a:latin typeface="Georgia" pitchFamily="34" charset="0"/>
                <a:ea typeface="Georgia" pitchFamily="34" charset="-122"/>
                <a:cs typeface="Georgia" pitchFamily="34" charset="-120"/>
              </a:rPr>
              <a:t>Track multipliers, not headcount.</a:t>
            </a:r>
            <a:endParaRPr lang="en-US" sz="1700" dirty="0"/>
          </a:p>
        </p:txBody>
      </p:sp>
      <p:sp>
        <p:nvSpPr>
          <p:cNvPr id="16" name="Text 14"/>
          <p:cNvSpPr/>
          <p:nvPr/>
        </p:nvSpPr>
        <p:spPr>
          <a:xfrm>
            <a:off x="1280160" y="3566160"/>
            <a:ext cx="10424160" cy="365760"/>
          </a:xfrm>
          <a:prstGeom prst="rect">
            <a:avLst/>
          </a:prstGeom>
          <a:noFill/>
          <a:ln/>
        </p:spPr>
        <p:txBody>
          <a:bodyPr wrap="square" lIns="0" tIns="0" rIns="0" bIns="0" rtlCol="0" anchor="t"/>
          <a:lstStyle/>
          <a:p>
            <a:pPr algn="l" indent="0" marL="0">
              <a:buNone/>
            </a:pPr>
            <a:r>
              <a:rPr lang="en-US" sz="1300" dirty="0">
                <a:solidFill>
                  <a:srgbClr val="EDE6CC"/>
                </a:solidFill>
                <a:latin typeface="Calibri" pitchFamily="34" charset="0"/>
                <a:ea typeface="Calibri" pitchFamily="34" charset="-122"/>
                <a:cs typeface="Calibri" pitchFamily="34" charset="-120"/>
              </a:rPr>
              <a:t>The right KPI is leaders produced per cohort.</a:t>
            </a:r>
            <a:endParaRPr lang="en-US" sz="1300" dirty="0"/>
          </a:p>
        </p:txBody>
      </p:sp>
      <p:sp>
        <p:nvSpPr>
          <p:cNvPr id="17" name="Shape 15"/>
          <p:cNvSpPr/>
          <p:nvPr/>
        </p:nvSpPr>
        <p:spPr>
          <a:xfrm>
            <a:off x="640080" y="4206240"/>
            <a:ext cx="457200" cy="457200"/>
          </a:xfrm>
          <a:prstGeom prst="ellipse">
            <a:avLst/>
          </a:prstGeom>
          <a:solidFill>
            <a:srgbClr val="B8860B"/>
          </a:solidFill>
          <a:ln w="12700">
            <a:solidFill>
              <a:srgbClr val="D4A437"/>
            </a:solidFill>
            <a:prstDash val="solid"/>
          </a:ln>
        </p:spPr>
      </p:sp>
      <p:sp>
        <p:nvSpPr>
          <p:cNvPr id="18" name="Text 16"/>
          <p:cNvSpPr/>
          <p:nvPr/>
        </p:nvSpPr>
        <p:spPr>
          <a:xfrm>
            <a:off x="640080" y="4206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280160" y="4069080"/>
            <a:ext cx="10424160" cy="411480"/>
          </a:xfrm>
          <a:prstGeom prst="rect">
            <a:avLst/>
          </a:prstGeom>
          <a:noFill/>
          <a:ln/>
        </p:spPr>
        <p:txBody>
          <a:bodyPr wrap="square" lIns="0" tIns="0" rIns="0" bIns="0" rtlCol="0" anchor="ctr"/>
          <a:lstStyle/>
          <a:p>
            <a:pPr algn="l" indent="0" marL="0">
              <a:buNone/>
            </a:pPr>
            <a:r>
              <a:rPr lang="en-US" sz="1700" b="1" dirty="0">
                <a:solidFill>
                  <a:srgbClr val="E8C97A"/>
                </a:solidFill>
                <a:latin typeface="Georgia" pitchFamily="34" charset="0"/>
                <a:ea typeface="Georgia" pitchFamily="34" charset="-122"/>
                <a:cs typeface="Georgia" pitchFamily="34" charset="-120"/>
              </a:rPr>
              <a:t>Distribute the load across the network.</a:t>
            </a:r>
            <a:endParaRPr lang="en-US" sz="1700" dirty="0"/>
          </a:p>
        </p:txBody>
      </p:sp>
      <p:sp>
        <p:nvSpPr>
          <p:cNvPr id="20" name="Text 18"/>
          <p:cNvSpPr/>
          <p:nvPr/>
        </p:nvSpPr>
        <p:spPr>
          <a:xfrm>
            <a:off x="1280160" y="4480560"/>
            <a:ext cx="10424160" cy="365760"/>
          </a:xfrm>
          <a:prstGeom prst="rect">
            <a:avLst/>
          </a:prstGeom>
          <a:noFill/>
          <a:ln/>
        </p:spPr>
        <p:txBody>
          <a:bodyPr wrap="square" lIns="0" tIns="0" rIns="0" bIns="0" rtlCol="0" anchor="t"/>
          <a:lstStyle/>
          <a:p>
            <a:pPr algn="l" indent="0" marL="0">
              <a:buNone/>
            </a:pPr>
            <a:r>
              <a:rPr lang="en-US" sz="1300" dirty="0">
                <a:solidFill>
                  <a:srgbClr val="EDE6CC"/>
                </a:solidFill>
                <a:latin typeface="Calibri" pitchFamily="34" charset="0"/>
                <a:ea typeface="Calibri" pitchFamily="34" charset="-122"/>
                <a:cs typeface="Calibri" pitchFamily="34" charset="-120"/>
              </a:rPr>
              <a:t>Spotswood, Proven Men, Noble Warriors, Men of Valor, CBMC, and Tun Tavern Fellowship each work a different segment.</a:t>
            </a:r>
            <a:endParaRPr lang="en-US" sz="1300" dirty="0"/>
          </a:p>
        </p:txBody>
      </p:sp>
      <p:sp>
        <p:nvSpPr>
          <p:cNvPr id="21" name="Shape 19"/>
          <p:cNvSpPr/>
          <p:nvPr/>
        </p:nvSpPr>
        <p:spPr>
          <a:xfrm>
            <a:off x="640080" y="5120640"/>
            <a:ext cx="457200" cy="457200"/>
          </a:xfrm>
          <a:prstGeom prst="ellipse">
            <a:avLst/>
          </a:prstGeom>
          <a:solidFill>
            <a:srgbClr val="B8860B"/>
          </a:solidFill>
          <a:ln w="12700">
            <a:solidFill>
              <a:srgbClr val="D4A437"/>
            </a:solidFill>
            <a:prstDash val="solid"/>
          </a:ln>
        </p:spPr>
      </p:sp>
      <p:sp>
        <p:nvSpPr>
          <p:cNvPr id="22" name="Text 20"/>
          <p:cNvSpPr/>
          <p:nvPr/>
        </p:nvSpPr>
        <p:spPr>
          <a:xfrm>
            <a:off x="640080" y="51206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3" name="Text 21"/>
          <p:cNvSpPr/>
          <p:nvPr/>
        </p:nvSpPr>
        <p:spPr>
          <a:xfrm>
            <a:off x="1280160" y="4983480"/>
            <a:ext cx="10424160" cy="411480"/>
          </a:xfrm>
          <a:prstGeom prst="rect">
            <a:avLst/>
          </a:prstGeom>
          <a:noFill/>
          <a:ln/>
        </p:spPr>
        <p:txBody>
          <a:bodyPr wrap="square" lIns="0" tIns="0" rIns="0" bIns="0" rtlCol="0" anchor="ctr"/>
          <a:lstStyle/>
          <a:p>
            <a:pPr algn="l" indent="0" marL="0">
              <a:buNone/>
            </a:pPr>
            <a:r>
              <a:rPr lang="en-US" sz="1700" b="1" dirty="0">
                <a:solidFill>
                  <a:srgbClr val="E8C97A"/>
                </a:solidFill>
                <a:latin typeface="Georgia" pitchFamily="34" charset="0"/>
                <a:ea typeface="Georgia" pitchFamily="34" charset="-122"/>
                <a:cs typeface="Georgia" pitchFamily="34" charset="-120"/>
              </a:rPr>
              <a:t>Disciple your house first, then hold the line.</a:t>
            </a:r>
            <a:endParaRPr lang="en-US" sz="1700" dirty="0"/>
          </a:p>
        </p:txBody>
      </p:sp>
      <p:sp>
        <p:nvSpPr>
          <p:cNvPr id="24" name="Text 22"/>
          <p:cNvSpPr/>
          <p:nvPr/>
        </p:nvSpPr>
        <p:spPr>
          <a:xfrm>
            <a:off x="1280160" y="5394960"/>
            <a:ext cx="10424160" cy="365760"/>
          </a:xfrm>
          <a:prstGeom prst="rect">
            <a:avLst/>
          </a:prstGeom>
          <a:noFill/>
          <a:ln/>
        </p:spPr>
        <p:txBody>
          <a:bodyPr wrap="square" lIns="0" tIns="0" rIns="0" bIns="0" rtlCol="0" anchor="t"/>
          <a:lstStyle/>
          <a:p>
            <a:pPr algn="l" indent="0" marL="0">
              <a:buNone/>
            </a:pPr>
            <a:r>
              <a:rPr lang="en-US" sz="1300" dirty="0">
                <a:solidFill>
                  <a:srgbClr val="EDE6CC"/>
                </a:solidFill>
                <a:latin typeface="Calibri" pitchFamily="34" charset="0"/>
                <a:ea typeface="Calibri" pitchFamily="34" charset="-122"/>
                <a:cs typeface="Calibri" pitchFamily="34" charset="-120"/>
              </a:rPr>
              <a:t>The family captain leads the first cohort—his own. Then keep the pulpit wide and the cohort narrow.</a:t>
            </a:r>
            <a:endParaRPr lang="en-US" sz="1300" dirty="0"/>
          </a:p>
        </p:txBody>
      </p:sp>
      <p:sp>
        <p:nvSpPr>
          <p:cNvPr id="25" name="Shape 23"/>
          <p:cNvSpPr/>
          <p:nvPr/>
        </p:nvSpPr>
        <p:spPr>
          <a:xfrm>
            <a:off x="457200" y="5897880"/>
            <a:ext cx="11247120" cy="22860"/>
          </a:xfrm>
          <a:prstGeom prst="rect">
            <a:avLst/>
          </a:prstGeom>
          <a:solidFill>
            <a:srgbClr val="B8860B"/>
          </a:solidFill>
          <a:ln w="12700">
            <a:solidFill>
              <a:srgbClr val="B8860B"/>
            </a:solidFill>
            <a:prstDash val="solid"/>
          </a:ln>
        </p:spPr>
      </p:sp>
      <p:sp>
        <p:nvSpPr>
          <p:cNvPr id="26" name="Text 24"/>
          <p:cNvSpPr/>
          <p:nvPr/>
        </p:nvSpPr>
        <p:spPr>
          <a:xfrm>
            <a:off x="457200" y="5989320"/>
            <a:ext cx="11247120" cy="365760"/>
          </a:xfrm>
          <a:prstGeom prst="rect">
            <a:avLst/>
          </a:prstGeom>
          <a:noFill/>
          <a:ln/>
        </p:spPr>
        <p:txBody>
          <a:bodyPr wrap="square" lIns="0" tIns="0" rIns="0" bIns="0" rtlCol="0" anchor="ctr"/>
          <a:lstStyle/>
          <a:p>
            <a:pPr algn="ctr" indent="0" marL="0">
              <a:buNone/>
            </a:pPr>
            <a:r>
              <a:rPr lang="en-US" sz="1200" i="1" dirty="0">
                <a:solidFill>
                  <a:srgbClr val="E8C97A"/>
                </a:solidFill>
                <a:latin typeface="Georgia" pitchFamily="34" charset="0"/>
                <a:ea typeface="Georgia" pitchFamily="34" charset="-122"/>
                <a:cs typeface="Georgia" pitchFamily="34" charset="-120"/>
              </a:rPr>
              <a:t>“And the things that you have heard from me… commit these to faithful men who will be able to teach others also.”  — 2 Timothy 2:2 (NKJV)</a:t>
            </a:r>
            <a:endParaRPr lang="en-US" sz="1200" dirty="0"/>
          </a:p>
        </p:txBody>
      </p:sp>
      <p:sp>
        <p:nvSpPr>
          <p:cNvPr id="27" name="Shape 25"/>
          <p:cNvSpPr/>
          <p:nvPr/>
        </p:nvSpPr>
        <p:spPr>
          <a:xfrm>
            <a:off x="457200" y="6446520"/>
            <a:ext cx="11247120" cy="16459"/>
          </a:xfrm>
          <a:prstGeom prst="rect">
            <a:avLst/>
          </a:prstGeom>
          <a:solidFill>
            <a:srgbClr val="B8860B"/>
          </a:solidFill>
          <a:ln w="12700">
            <a:solidFill>
              <a:srgbClr val="B8860B"/>
            </a:solidFill>
            <a:prstDash val="solid"/>
          </a:ln>
        </p:spPr>
      </p:sp>
      <p:sp>
        <p:nvSpPr>
          <p:cNvPr id="28" name="Text 26"/>
          <p:cNvSpPr/>
          <p:nvPr/>
        </p:nvSpPr>
        <p:spPr>
          <a:xfrm>
            <a:off x="457200" y="6510528"/>
            <a:ext cx="8229600" cy="274320"/>
          </a:xfrm>
          <a:prstGeom prst="rect">
            <a:avLst/>
          </a:prstGeom>
          <a:noFill/>
          <a:ln/>
        </p:spPr>
        <p:txBody>
          <a:bodyPr wrap="square" lIns="0" tIns="0" rIns="0" bIns="0" rtlCol="0" anchor="t"/>
          <a:lstStyle/>
          <a:p>
            <a:pPr algn="l" indent="0" marL="0">
              <a:buNone/>
            </a:pPr>
            <a:r>
              <a:rPr lang="en-US" sz="1000" dirty="0">
                <a:solidFill>
                  <a:srgbClr val="E8C97A"/>
                </a:solidFill>
                <a:latin typeface="Georgia" pitchFamily="34" charset="0"/>
                <a:ea typeface="Georgia" pitchFamily="34" charset="-122"/>
                <a:cs typeface="Georgia" pitchFamily="34" charset="-120"/>
              </a:rPr>
              <a:t>usmcmin.org</a:t>
            </a:r>
            <a:pPr algn="l" indent="0" marL="0">
              <a:buNone/>
            </a:pPr>
            <a:r>
              <a:rPr lang="en-US" sz="1000" dirty="0">
                <a:solidFill>
                  <a:srgbClr val="9F9580"/>
                </a:solidFill>
                <a:latin typeface="Georgia" pitchFamily="34" charset="0"/>
                <a:ea typeface="Georgia" pitchFamily="34" charset="-122"/>
                <a:cs typeface="Georgia" pitchFamily="34" charset="-120"/>
              </a:rPr>
              <a:t>  ·  </a:t>
            </a:r>
            <a:pPr algn="l" indent="0" marL="0">
              <a:buNone/>
            </a:pPr>
            <a:r>
              <a:rPr lang="en-US" sz="1000" i="1" dirty="0">
                <a:solidFill>
                  <a:srgbClr val="9F9580"/>
                </a:solidFill>
                <a:latin typeface="Georgia" pitchFamily="34" charset="0"/>
                <a:ea typeface="Georgia" pitchFamily="34" charset="-122"/>
                <a:cs typeface="Georgia" pitchFamily="34" charset="-120"/>
              </a:rPr>
              <a:t>“Iron sharpens iron.” — Prov. 27:17</a:t>
            </a:r>
            <a:endParaRPr lang="en-US" sz="1000" dirty="0"/>
          </a:p>
        </p:txBody>
      </p:sp>
      <p:sp>
        <p:nvSpPr>
          <p:cNvPr id="29" name="Text 27"/>
          <p:cNvSpPr/>
          <p:nvPr/>
        </p:nvSpPr>
        <p:spPr>
          <a:xfrm>
            <a:off x="10789920" y="6510528"/>
            <a:ext cx="914400" cy="274320"/>
          </a:xfrm>
          <a:prstGeom prst="rect">
            <a:avLst/>
          </a:prstGeom>
          <a:noFill/>
          <a:ln/>
        </p:spPr>
        <p:txBody>
          <a:bodyPr wrap="square" lIns="0" tIns="0" rIns="0" bIns="0" rtlCol="0" anchor="t"/>
          <a:lstStyle/>
          <a:p>
            <a:pPr algn="r" indent="0" marL="0">
              <a:buNone/>
            </a:pPr>
            <a:r>
              <a:rPr lang="en-US" sz="1000" dirty="0">
                <a:solidFill>
                  <a:srgbClr val="9F9580"/>
                </a:solidFill>
                <a:latin typeface="Georgia" pitchFamily="34" charset="0"/>
                <a:ea typeface="Georgia" pitchFamily="34" charset="-122"/>
                <a:cs typeface="Georgia" pitchFamily="34" charset="-120"/>
              </a:rPr>
              <a:t>10 / 10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Diffusion Curve &amp; Discipleship Strategy</dc:title>
  <dc:subject>PptxGenJS Presentation</dc:subject>
  <dc:creator>U.S.M.C. Ministries</dc:creator>
  <cp:lastModifiedBy>U.S.M.C. Ministries</cp:lastModifiedBy>
  <cp:revision>1</cp:revision>
  <dcterms:created xsi:type="dcterms:W3CDTF">2026-05-29T20:42:58Z</dcterms:created>
  <dcterms:modified xsi:type="dcterms:W3CDTF">2026-05-29T20:42:58Z</dcterms:modified>
</cp:coreProperties>
</file>